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media/image1.jpeg" ContentType="image/jpe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Shape 94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5" name="Shape 95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0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7" descr="Picture 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204326" y="19051"/>
            <a:ext cx="952501" cy="895351"/>
          </a:xfrm>
          <a:prstGeom prst="rect">
            <a:avLst/>
          </a:prstGeom>
          <a:ln w="12700">
            <a:miter lim="400000"/>
          </a:ln>
        </p:spPr>
      </p:pic>
      <p:sp>
        <p:nvSpPr>
          <p:cNvPr id="13" name="Title Text"/>
          <p:cNvSpPr txBox="1"/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14" name="Body Level One…"/>
          <p:cNvSpPr txBox="1"/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3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Text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32" name="Body Level One…"/>
          <p:cNvSpPr txBox="1"/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888888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888888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888888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1" name="Body Level One…"/>
          <p:cNvSpPr txBox="1"/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itle Text"/>
          <p:cNvSpPr txBox="1"/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0" name="Body Level One…"/>
          <p:cNvSpPr txBox="1"/>
          <p:nvPr>
            <p:ph type="body" sz="quarter" idx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b="1" sz="2400"/>
            </a:lvl1pPr>
            <a:lvl2pPr marL="0" indent="457200">
              <a:buSzTx/>
              <a:buFontTx/>
              <a:buNone/>
              <a:defRPr b="1" sz="2400"/>
            </a:lvl2pPr>
            <a:lvl3pPr marL="0" indent="914400">
              <a:buSzTx/>
              <a:buFontTx/>
              <a:buNone/>
              <a:defRPr b="1" sz="2400"/>
            </a:lvl3pPr>
            <a:lvl4pPr marL="0" indent="1371600">
              <a:buSzTx/>
              <a:buFontTx/>
              <a:buNone/>
              <a:defRPr b="1" sz="2400"/>
            </a:lvl4pPr>
            <a:lvl5pPr marL="0" indent="1828800"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1" name="Text Placeholder 4"/>
          <p:cNvSpPr/>
          <p:nvPr>
            <p:ph type="body" sz="quarter" idx="21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b="1" sz="2400"/>
            </a:pPr>
          </a:p>
        </p:txBody>
      </p:sp>
      <p:sp>
        <p:nvSpPr>
          <p:cNvPr id="5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6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7" descr="Picture 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204326" y="19051"/>
            <a:ext cx="952501" cy="895351"/>
          </a:xfrm>
          <a:prstGeom prst="rect">
            <a:avLst/>
          </a:prstGeom>
          <a:ln w="12700">
            <a:miter lim="400000"/>
          </a:ln>
        </p:spPr>
      </p:pic>
      <p:sp>
        <p:nvSpPr>
          <p:cNvPr id="6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itle Text"/>
          <p:cNvSpPr txBox="1"/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/>
            <a:r>
              <a:t>Title Text</a:t>
            </a:r>
          </a:p>
        </p:txBody>
      </p:sp>
      <p:sp>
        <p:nvSpPr>
          <p:cNvPr id="76" name="Body Level One…"/>
          <p:cNvSpPr txBox="1"/>
          <p:nvPr>
            <p:ph type="body" sz="half" idx="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7" name="Text Placeholder 3"/>
          <p:cNvSpPr/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</a:p>
        </p:txBody>
      </p:sp>
      <p:sp>
        <p:nvSpPr>
          <p:cNvPr id="7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itle Text"/>
          <p:cNvSpPr txBox="1"/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/>
            <a:r>
              <a:t>Title Text</a:t>
            </a:r>
          </a:p>
        </p:txBody>
      </p:sp>
      <p:sp>
        <p:nvSpPr>
          <p:cNvPr id="86" name="Picture Placeholder 2"/>
          <p:cNvSpPr/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7" name="Body Level One…"/>
          <p:cNvSpPr txBox="1"/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" descr="Picture 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204326" y="19051"/>
            <a:ext cx="952501" cy="895351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itle Text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4" name="Body Level One…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" name="Slide Number"/>
          <p:cNvSpPr txBox="1"/>
          <p:nvPr>
            <p:ph type="sldNum" sz="quarter" idx="2"/>
          </p:nvPr>
        </p:nvSpPr>
        <p:spPr>
          <a:xfrm>
            <a:off x="11095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ubtitle 2"/>
          <p:cNvSpPr txBox="1"/>
          <p:nvPr>
            <p:ph type="subTitle" sz="quarter" idx="1"/>
          </p:nvPr>
        </p:nvSpPr>
        <p:spPr>
          <a:xfrm>
            <a:off x="8024331" y="5066943"/>
            <a:ext cx="4236097" cy="1791057"/>
          </a:xfrm>
          <a:prstGeom prst="rect">
            <a:avLst/>
          </a:prstGeom>
        </p:spPr>
        <p:txBody>
          <a:bodyPr/>
          <a:lstStyle/>
          <a:p>
            <a:pPr marL="342900" indent="-342900" algn="l">
              <a:buSzPct val="100000"/>
              <a:buChar char="-"/>
              <a:defRPr b="1">
                <a:solidFill>
                  <a:srgbClr val="203864"/>
                </a:solidFill>
              </a:defRPr>
            </a:pPr>
            <a:r>
              <a:t>Purva Kothekar</a:t>
            </a:r>
          </a:p>
          <a:p>
            <a:pPr marL="342900" indent="-342900" algn="l">
              <a:buSzPct val="100000"/>
              <a:buChar char="-"/>
              <a:defRPr b="1">
                <a:solidFill>
                  <a:srgbClr val="203864"/>
                </a:solidFill>
              </a:defRPr>
            </a:pPr>
            <a:r>
              <a:t>Mayank Sharma</a:t>
            </a:r>
          </a:p>
          <a:p>
            <a:pPr marL="342900" indent="-342900" algn="l">
              <a:buSzPct val="100000"/>
              <a:buChar char="-"/>
              <a:defRPr b="1">
                <a:solidFill>
                  <a:srgbClr val="203864"/>
                </a:solidFill>
              </a:defRPr>
            </a:pPr>
            <a:r>
              <a:t>Mohammad Ruksad Siddiqui </a:t>
            </a:r>
          </a:p>
          <a:p>
            <a:pPr marL="342900" indent="-342900" algn="l">
              <a:buSzPct val="100000"/>
              <a:buChar char="-"/>
              <a:defRPr b="1">
                <a:solidFill>
                  <a:srgbClr val="203864"/>
                </a:solidFill>
              </a:defRPr>
            </a:pPr>
            <a:r>
              <a:t>Rahul Gupta</a:t>
            </a:r>
          </a:p>
        </p:txBody>
      </p:sp>
      <p:sp>
        <p:nvSpPr>
          <p:cNvPr id="98" name="TextBox 4"/>
          <p:cNvSpPr txBox="1"/>
          <p:nvPr/>
        </p:nvSpPr>
        <p:spPr>
          <a:xfrm>
            <a:off x="129696" y="1545186"/>
            <a:ext cx="11898398" cy="1487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3200"/>
            </a:pPr>
          </a:p>
          <a:p>
            <a:pPr>
              <a:defRPr sz="3200"/>
            </a:pPr>
            <a:r>
              <a:t> </a:t>
            </a:r>
            <a:r>
              <a:rPr b="1">
                <a:solidFill>
                  <a:srgbClr val="203864"/>
                </a:solidFill>
              </a:rPr>
              <a:t>Capstone Project: ML-Driven Decision Support for “Aurora Finance”</a:t>
            </a:r>
            <a:endParaRPr b="1">
              <a:solidFill>
                <a:srgbClr val="203864"/>
              </a:solidFill>
            </a:endParaRPr>
          </a:p>
          <a:p>
            <a:pPr>
              <a:defRPr b="1" sz="3200">
                <a:solidFill>
                  <a:srgbClr val="203864"/>
                </a:solidFill>
              </a:defRPr>
            </a:pPr>
            <a:r>
              <a:t>         - </a:t>
            </a:r>
            <a:r>
              <a:rPr sz="2600"/>
              <a:t>Integrating Predictive Analytics Across Corporate Finance, Banking &amp; Markets</a:t>
            </a:r>
            <a:r>
              <a:rPr sz="2400"/>
              <a:t>  </a:t>
            </a:r>
          </a:p>
        </p:txBody>
      </p:sp>
      <p:sp>
        <p:nvSpPr>
          <p:cNvPr id="99" name="TextBox 3"/>
          <p:cNvSpPr txBox="1"/>
          <p:nvPr/>
        </p:nvSpPr>
        <p:spPr>
          <a:xfrm>
            <a:off x="6014980" y="4550624"/>
            <a:ext cx="2651927" cy="444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800">
                <a:solidFill>
                  <a:srgbClr val="203864"/>
                </a:solidFill>
              </a:defRPr>
            </a:lvl1pPr>
          </a:lstStyle>
          <a:p>
            <a:pPr/>
            <a:r>
              <a:t>Presented by: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Box 7"/>
          <p:cNvSpPr txBox="1"/>
          <p:nvPr/>
        </p:nvSpPr>
        <p:spPr>
          <a:xfrm>
            <a:off x="222999" y="167945"/>
            <a:ext cx="9080553" cy="497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2F5597"/>
                </a:solidFill>
              </a:defRPr>
            </a:lvl1pPr>
          </a:lstStyle>
          <a:p>
            <a:pPr/>
            <a:r>
              <a:t>Business Objective  &amp; Project Scope</a:t>
            </a:r>
          </a:p>
        </p:txBody>
      </p:sp>
      <p:sp>
        <p:nvSpPr>
          <p:cNvPr id="102" name="Straight Connector 4"/>
          <p:cNvSpPr/>
          <p:nvPr/>
        </p:nvSpPr>
        <p:spPr>
          <a:xfrm>
            <a:off x="9327" y="886407"/>
            <a:ext cx="12204002" cy="1"/>
          </a:xfrm>
          <a:prstGeom prst="line">
            <a:avLst/>
          </a:prstGeom>
          <a:ln w="19050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extBox 7"/>
          <p:cNvSpPr txBox="1"/>
          <p:nvPr/>
        </p:nvSpPr>
        <p:spPr>
          <a:xfrm>
            <a:off x="223000" y="167945"/>
            <a:ext cx="5973460" cy="497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2F5597"/>
                </a:solidFill>
              </a:defRPr>
            </a:lvl1pPr>
          </a:lstStyle>
          <a:p>
            <a:pPr/>
            <a:r>
              <a:t>Overall System Architecture </a:t>
            </a:r>
          </a:p>
        </p:txBody>
      </p:sp>
      <p:sp>
        <p:nvSpPr>
          <p:cNvPr id="105" name="Straight Connector 4"/>
          <p:cNvSpPr/>
          <p:nvPr/>
        </p:nvSpPr>
        <p:spPr>
          <a:xfrm>
            <a:off x="9327" y="886407"/>
            <a:ext cx="12204002" cy="1"/>
          </a:xfrm>
          <a:prstGeom prst="line">
            <a:avLst/>
          </a:prstGeom>
          <a:ln w="19050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TextBox 4"/>
          <p:cNvSpPr txBox="1"/>
          <p:nvPr/>
        </p:nvSpPr>
        <p:spPr>
          <a:xfrm>
            <a:off x="167018" y="2543501"/>
            <a:ext cx="11842413" cy="10179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b="1" sz="3200">
                <a:solidFill>
                  <a:srgbClr val="2F559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Module 1: Corporate Finance Module (PK)</a:t>
            </a:r>
          </a:p>
          <a:p>
            <a:pPr/>
            <a:r>
              <a:t>                             </a:t>
            </a:r>
            <a:r>
              <a:rPr b="1" sz="2400">
                <a:solidFill>
                  <a:srgbClr val="2F5597"/>
                </a:solidFill>
                <a:latin typeface="Arial"/>
                <a:ea typeface="Arial"/>
                <a:cs typeface="Arial"/>
                <a:sym typeface="Arial"/>
              </a:rPr>
              <a:t>Objective: Decide which internal projects Aurora should fund</a:t>
            </a:r>
            <a:r>
              <a:rPr b="1">
                <a:solidFill>
                  <a:srgbClr val="2F5597"/>
                </a:solidFill>
              </a:rPr>
              <a:t> </a:t>
            </a:r>
            <a:r>
              <a:rPr b="1" sz="3200">
                <a:solidFill>
                  <a:srgbClr val="2F559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extBox 7"/>
          <p:cNvSpPr txBox="1"/>
          <p:nvPr/>
        </p:nvSpPr>
        <p:spPr>
          <a:xfrm>
            <a:off x="139026" y="167945"/>
            <a:ext cx="9862503" cy="497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2F5597"/>
                </a:solidFill>
              </a:defRPr>
            </a:lvl1pPr>
          </a:lstStyle>
          <a:p>
            <a:pPr/>
            <a:r>
              <a:t>Overall approach:  (Example)</a:t>
            </a:r>
          </a:p>
        </p:txBody>
      </p:sp>
      <p:sp>
        <p:nvSpPr>
          <p:cNvPr id="110" name="Straight Connector 1"/>
          <p:cNvSpPr/>
          <p:nvPr/>
        </p:nvSpPr>
        <p:spPr>
          <a:xfrm>
            <a:off x="9327" y="886407"/>
            <a:ext cx="12204002" cy="1"/>
          </a:xfrm>
          <a:prstGeom prst="line">
            <a:avLst/>
          </a:prstGeom>
          <a:ln w="19050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111" name="TextBox 3"/>
          <p:cNvSpPr txBox="1"/>
          <p:nvPr/>
        </p:nvSpPr>
        <p:spPr>
          <a:xfrm>
            <a:off x="139026" y="923734"/>
            <a:ext cx="11142617" cy="56236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000"/>
              </a:spcBef>
              <a:defRPr b="1" sz="14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1. Dataset</a:t>
            </a:r>
            <a:endParaRPr sz="1200"/>
          </a:p>
          <a:p>
            <a:pPr lvl="1" marL="628650" indent="-171450">
              <a:buSzPct val="100000"/>
              <a:buFont typeface="Arial"/>
              <a:buChar char="—"/>
              <a:defRPr sz="12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Unlabeled documents: 1500 entries</a:t>
            </a:r>
          </a:p>
          <a:p>
            <a:pPr lvl="1" marL="628650" indent="-171450">
              <a:buSzPct val="100000"/>
              <a:buFont typeface="Arial"/>
              <a:buChar char="—"/>
              <a:defRPr sz="12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Format: List of strings (one doc per entry)</a:t>
            </a:r>
          </a:p>
          <a:p>
            <a:pPr>
              <a:spcBef>
                <a:spcPts val="1000"/>
              </a:spcBef>
              <a:defRPr b="1" sz="14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2. Preprocessing</a:t>
            </a:r>
            <a:endParaRPr sz="1200"/>
          </a:p>
          <a:p>
            <a:pPr lvl="1" marL="628650" indent="-171450">
              <a:buSzPct val="100000"/>
              <a:buFont typeface="Arial"/>
              <a:buChar char="—"/>
              <a:defRPr sz="12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Stopword removal using NLTK + custom</a:t>
            </a:r>
          </a:p>
          <a:p>
            <a:pPr lvl="1" marL="628650" indent="-171450">
              <a:buSzPct val="100000"/>
              <a:buFont typeface="Arial"/>
              <a:buChar char="—"/>
              <a:defRPr sz="12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Lemmatization using WordNet</a:t>
            </a:r>
          </a:p>
          <a:p>
            <a:pPr>
              <a:spcBef>
                <a:spcPts val="1000"/>
              </a:spcBef>
              <a:defRPr b="1" sz="14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3. Vectorization</a:t>
            </a:r>
            <a:endParaRPr sz="1200"/>
          </a:p>
          <a:p>
            <a:pPr lvl="1" marL="628650" indent="-171450">
              <a:buSzPct val="100000"/>
              <a:buFont typeface="Arial"/>
              <a:buChar char="—"/>
              <a:defRPr sz="12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TF-IDF Vectorizer with ngram_range=(1,2), min_df=5</a:t>
            </a:r>
          </a:p>
          <a:p>
            <a:pPr lvl="1" marL="628650" indent="-171450">
              <a:buSzPct val="100000"/>
              <a:buFont typeface="Arial"/>
              <a:buChar char="—"/>
              <a:defRPr sz="12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Transformed to shape: [1500, ~2500]</a:t>
            </a:r>
          </a:p>
          <a:p>
            <a:pPr>
              <a:spcBef>
                <a:spcPts val="1000"/>
              </a:spcBef>
              <a:defRPr b="1" sz="14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4. Dimensionality Reduction</a:t>
            </a:r>
            <a:endParaRPr sz="1200"/>
          </a:p>
          <a:p>
            <a:pPr lvl="1" marL="628650" indent="-171450">
              <a:buSzPct val="100000"/>
              <a:buFont typeface="Arial"/>
              <a:buChar char="—"/>
              <a:defRPr sz="12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TruncatedSVD (LSA) applied to TF-IDF matrix</a:t>
            </a:r>
          </a:p>
          <a:p>
            <a:pPr>
              <a:spcBef>
                <a:spcPts val="1000"/>
              </a:spcBef>
              <a:defRPr b="1" sz="14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5. Clustering (Pseudo-Labeling) </a:t>
            </a:r>
            <a:endParaRPr sz="1200"/>
          </a:p>
          <a:p>
            <a:pPr lvl="1" marL="628650" indent="-171450">
              <a:buSzPct val="100000"/>
              <a:buFont typeface="Arial"/>
              <a:buChar char="—"/>
              <a:defRPr sz="12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K-Means clustering with k=5</a:t>
            </a:r>
          </a:p>
          <a:p>
            <a:pPr lvl="1" marL="628650" indent="-171450">
              <a:buSzPct val="100000"/>
              <a:buFont typeface="Arial"/>
              <a:buChar char="—"/>
              <a:defRPr sz="12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Validated with Elbow and Silhouette Score</a:t>
            </a:r>
          </a:p>
          <a:p>
            <a:pPr>
              <a:spcBef>
                <a:spcPts val="1000"/>
              </a:spcBef>
              <a:defRPr b="1" sz="14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6. Cluster Naming</a:t>
            </a:r>
            <a:endParaRPr sz="1200"/>
          </a:p>
          <a:p>
            <a:pPr lvl="1" marL="628650" indent="-171450">
              <a:buSzPct val="100000"/>
              <a:buFont typeface="Arial"/>
              <a:buChar char="—"/>
              <a:defRPr sz="12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Top-10 keywords extracted from each cluster</a:t>
            </a:r>
          </a:p>
          <a:p>
            <a:pPr lvl="1" marL="628650" indent="-171450">
              <a:buSzPct val="100000"/>
              <a:buFont typeface="Arial"/>
              <a:buChar char="—"/>
              <a:defRPr sz="12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Clusters auto-labeled as: Religion, Politics, Motorcycles, Philosophy, General</a:t>
            </a:r>
          </a:p>
          <a:p>
            <a:pPr>
              <a:spcBef>
                <a:spcPts val="1000"/>
              </a:spcBef>
              <a:defRPr b="1" sz="14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7. Supervised Classification</a:t>
            </a:r>
            <a:endParaRPr sz="1200"/>
          </a:p>
          <a:p>
            <a:pPr lvl="1" marL="628650" indent="-171450">
              <a:buSzPct val="100000"/>
              <a:buFont typeface="Arial"/>
              <a:buChar char="—"/>
              <a:defRPr sz="12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Classifiers: Logistic Regression, Random Forest, Naive Bayes, SVM</a:t>
            </a:r>
          </a:p>
          <a:p>
            <a:pPr lvl="1" marL="628650" indent="-171450">
              <a:buSzPct val="100000"/>
              <a:buFont typeface="Arial"/>
              <a:buChar char="—"/>
              <a:defRPr sz="12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Metrics: Accuracy, F1-Macro Score, Confusion Matrix</a:t>
            </a:r>
          </a:p>
          <a:p>
            <a:pPr>
              <a:spcBef>
                <a:spcPts val="1000"/>
              </a:spcBef>
              <a:defRPr b="1" sz="14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8. Results Summary</a:t>
            </a:r>
            <a:endParaRPr sz="1200"/>
          </a:p>
          <a:p>
            <a:pPr lvl="1" marL="628650" indent="-171450">
              <a:buSzPct val="100000"/>
              <a:buFont typeface="Arial"/>
              <a:buChar char="—"/>
              <a:defRPr sz="12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Random Forest: Accuracy 0.98, F1 0.91</a:t>
            </a:r>
          </a:p>
          <a:p>
            <a:pPr lvl="1" marL="628650" indent="-171450">
              <a:buSzPct val="100000"/>
              <a:buFont typeface="Arial"/>
              <a:buChar char="—"/>
              <a:defRPr sz="12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SVM (linear): Accuracy 0.96, F1 0.93</a:t>
            </a:r>
          </a:p>
          <a:p>
            <a:pPr lvl="1" marL="628650" indent="-171450">
              <a:buSzPct val="100000"/>
              <a:buFont typeface="Arial"/>
              <a:buChar char="—"/>
              <a:defRPr sz="12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Naive Bayes: Accuracy 0.93, F1 0.83</a:t>
            </a:r>
          </a:p>
          <a:p>
            <a:pPr lvl="1" marL="628650" indent="-171450">
              <a:buSzPct val="100000"/>
              <a:buFont typeface="Arial"/>
              <a:buChar char="—"/>
              <a:defRPr sz="12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Logistic Regression: Accuracy 0.92, F1 0.74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TextBox 7"/>
          <p:cNvSpPr txBox="1"/>
          <p:nvPr/>
        </p:nvSpPr>
        <p:spPr>
          <a:xfrm>
            <a:off x="148353" y="167945"/>
            <a:ext cx="11674466" cy="497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2F5597"/>
                </a:solidFill>
              </a:defRPr>
            </a:lvl1pPr>
          </a:lstStyle>
          <a:p>
            <a:pPr/>
            <a:r>
              <a:t>Task 1: Cash Flow Forecasting</a:t>
            </a:r>
          </a:p>
        </p:txBody>
      </p:sp>
      <p:sp>
        <p:nvSpPr>
          <p:cNvPr id="114" name="Straight Connector 1"/>
          <p:cNvSpPr/>
          <p:nvPr/>
        </p:nvSpPr>
        <p:spPr>
          <a:xfrm>
            <a:off x="9327" y="886407"/>
            <a:ext cx="12204002" cy="1"/>
          </a:xfrm>
          <a:prstGeom prst="line">
            <a:avLst/>
          </a:prstGeom>
          <a:ln w="19050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115" name="TextBox 6"/>
          <p:cNvSpPr txBox="1"/>
          <p:nvPr/>
        </p:nvSpPr>
        <p:spPr>
          <a:xfrm>
            <a:off x="111029" y="886406"/>
            <a:ext cx="11763904" cy="55059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285750" indent="-285750">
              <a:lnSpc>
                <a:spcPct val="150000"/>
              </a:lnSpc>
              <a:spcBef>
                <a:spcPts val="400"/>
              </a:spcBef>
              <a:buSzPct val="100000"/>
              <a:buChar char="▪"/>
              <a:defRPr b="1" sz="1400">
                <a:latin typeface="Arial"/>
                <a:ea typeface="Arial"/>
                <a:cs typeface="Arial"/>
                <a:sym typeface="Arial"/>
              </a:defRPr>
            </a:pPr>
            <a:r>
              <a:t>Approach</a:t>
            </a:r>
          </a:p>
          <a:p>
            <a:pPr lvl="1" marL="742950" indent="-285750">
              <a:spcBef>
                <a:spcPts val="600"/>
              </a:spcBef>
              <a:buSzPct val="100000"/>
              <a:buFont typeface="Arial"/>
              <a:buChar char="—"/>
              <a:defRPr sz="1400">
                <a:latin typeface="Arial"/>
                <a:ea typeface="Arial"/>
                <a:cs typeface="Arial"/>
                <a:sym typeface="Arial"/>
              </a:defRPr>
            </a:pPr>
            <a:r>
              <a:t>XXX</a:t>
            </a:r>
          </a:p>
          <a:p>
            <a:pPr marL="285750" indent="-285750">
              <a:lnSpc>
                <a:spcPct val="150000"/>
              </a:lnSpc>
              <a:spcBef>
                <a:spcPts val="400"/>
              </a:spcBef>
              <a:buSzPct val="100000"/>
              <a:buChar char="▪"/>
              <a:defRPr b="1" sz="1400">
                <a:latin typeface="Arial"/>
                <a:ea typeface="Arial"/>
                <a:cs typeface="Arial"/>
                <a:sym typeface="Arial"/>
              </a:defRPr>
            </a:pPr>
          </a:p>
          <a:p>
            <a:pPr marL="285750" indent="-285750">
              <a:lnSpc>
                <a:spcPct val="150000"/>
              </a:lnSpc>
              <a:spcBef>
                <a:spcPts val="400"/>
              </a:spcBef>
              <a:buSzPct val="100000"/>
              <a:buChar char="▪"/>
              <a:defRPr b="1" sz="1400">
                <a:latin typeface="Arial"/>
                <a:ea typeface="Arial"/>
                <a:cs typeface="Arial"/>
                <a:sym typeface="Arial"/>
              </a:defRPr>
            </a:pPr>
            <a:r>
              <a:t>Feature Engineering</a:t>
            </a:r>
          </a:p>
          <a:p>
            <a:pPr marL="285750" indent="-285750">
              <a:lnSpc>
                <a:spcPct val="150000"/>
              </a:lnSpc>
              <a:spcBef>
                <a:spcPts val="400"/>
              </a:spcBef>
              <a:buSzPct val="100000"/>
              <a:buChar char="▪"/>
              <a:defRPr b="1" sz="1400">
                <a:latin typeface="Arial"/>
                <a:ea typeface="Arial"/>
                <a:cs typeface="Arial"/>
                <a:sym typeface="Arial"/>
              </a:defRPr>
            </a:pPr>
          </a:p>
          <a:p>
            <a:pPr marL="285750" indent="-285750">
              <a:lnSpc>
                <a:spcPct val="150000"/>
              </a:lnSpc>
              <a:spcBef>
                <a:spcPts val="400"/>
              </a:spcBef>
              <a:buSzPct val="100000"/>
              <a:buChar char="▪"/>
              <a:defRPr b="1" sz="1400">
                <a:latin typeface="Arial"/>
                <a:ea typeface="Arial"/>
                <a:cs typeface="Arial"/>
                <a:sym typeface="Arial"/>
              </a:defRPr>
            </a:pPr>
            <a:r>
              <a:t>Models Evaluated</a:t>
            </a:r>
          </a:p>
          <a:p>
            <a:pPr lvl="1" indent="0">
              <a:lnSpc>
                <a:spcPct val="150000"/>
              </a:lnSpc>
              <a:spcBef>
                <a:spcPts val="400"/>
              </a:spcBef>
              <a:defRPr b="1" sz="1400">
                <a:latin typeface="Arial"/>
                <a:ea typeface="Arial"/>
                <a:cs typeface="Arial"/>
                <a:sym typeface="Arial"/>
              </a:defRPr>
            </a:pPr>
          </a:p>
          <a:p>
            <a:pPr lvl="1" marL="285750" indent="-285750">
              <a:lnSpc>
                <a:spcPct val="150000"/>
              </a:lnSpc>
              <a:spcBef>
                <a:spcPts val="400"/>
              </a:spcBef>
              <a:buSzPct val="100000"/>
              <a:buChar char="▪"/>
              <a:defRPr b="1" sz="1400">
                <a:latin typeface="Arial"/>
                <a:ea typeface="Arial"/>
                <a:cs typeface="Arial"/>
                <a:sym typeface="Arial"/>
              </a:defRPr>
            </a:pPr>
          </a:p>
          <a:p>
            <a:pPr lvl="1" marL="285750" indent="-285750">
              <a:lnSpc>
                <a:spcPct val="150000"/>
              </a:lnSpc>
              <a:spcBef>
                <a:spcPts val="400"/>
              </a:spcBef>
              <a:buSzPct val="100000"/>
              <a:buChar char="▪"/>
              <a:defRPr b="1" sz="1400">
                <a:latin typeface="Arial"/>
                <a:ea typeface="Arial"/>
                <a:cs typeface="Arial"/>
                <a:sym typeface="Arial"/>
              </a:defRPr>
            </a:pPr>
          </a:p>
          <a:p>
            <a:pPr lvl="1" marL="285750" indent="-285750">
              <a:lnSpc>
                <a:spcPct val="150000"/>
              </a:lnSpc>
              <a:spcBef>
                <a:spcPts val="400"/>
              </a:spcBef>
              <a:buSzPct val="100000"/>
              <a:buChar char="▪"/>
              <a:defRPr b="1" sz="1400">
                <a:latin typeface="Arial"/>
                <a:ea typeface="Arial"/>
                <a:cs typeface="Arial"/>
                <a:sym typeface="Arial"/>
              </a:defRPr>
            </a:pPr>
          </a:p>
          <a:p>
            <a:pPr lvl="1" indent="0">
              <a:lnSpc>
                <a:spcPct val="150000"/>
              </a:lnSpc>
              <a:spcBef>
                <a:spcPts val="400"/>
              </a:spcBef>
              <a:defRPr b="1" sz="1400">
                <a:latin typeface="Arial"/>
                <a:ea typeface="Arial"/>
                <a:cs typeface="Arial"/>
                <a:sym typeface="Arial"/>
              </a:defRPr>
            </a:pPr>
          </a:p>
          <a:p>
            <a:pPr lvl="1" marL="285750" indent="-285750">
              <a:lnSpc>
                <a:spcPct val="150000"/>
              </a:lnSpc>
              <a:spcBef>
                <a:spcPts val="400"/>
              </a:spcBef>
              <a:buSzPct val="100000"/>
              <a:buChar char="▪"/>
              <a:defRPr b="1" sz="1400">
                <a:latin typeface="Arial"/>
                <a:ea typeface="Arial"/>
                <a:cs typeface="Arial"/>
                <a:sym typeface="Arial"/>
              </a:defRPr>
            </a:pPr>
            <a:r>
              <a:t>Key Findings</a:t>
            </a:r>
          </a:p>
          <a:p>
            <a:pPr lvl="2" marL="742950" indent="-285750">
              <a:lnSpc>
                <a:spcPct val="150000"/>
              </a:lnSpc>
              <a:spcBef>
                <a:spcPts val="400"/>
              </a:spcBef>
              <a:buSzPct val="100000"/>
              <a:buFont typeface="Arial"/>
              <a:buChar char="—"/>
              <a:defRPr sz="1400">
                <a:latin typeface="Arial"/>
                <a:ea typeface="Arial"/>
                <a:cs typeface="Arial"/>
                <a:sym typeface="Arial"/>
              </a:defRPr>
            </a:pPr>
            <a:r>
              <a:t>XXX</a:t>
            </a:r>
            <a:endParaRPr b="1"/>
          </a:p>
          <a:p>
            <a:pPr lvl="1" marL="285750" indent="-285750">
              <a:lnSpc>
                <a:spcPct val="150000"/>
              </a:lnSpc>
              <a:spcBef>
                <a:spcPts val="400"/>
              </a:spcBef>
              <a:buSzPct val="100000"/>
              <a:buChar char="▪"/>
              <a:defRPr b="1" sz="1400">
                <a:latin typeface="Arial"/>
                <a:ea typeface="Arial"/>
                <a:cs typeface="Arial"/>
                <a:sym typeface="Arial"/>
              </a:defRPr>
            </a:pPr>
            <a:r>
              <a:t>Limitations</a:t>
            </a:r>
          </a:p>
          <a:p>
            <a:pPr lvl="2" marL="742950" indent="-285750">
              <a:lnSpc>
                <a:spcPct val="150000"/>
              </a:lnSpc>
              <a:spcBef>
                <a:spcPts val="400"/>
              </a:spcBef>
              <a:buSzPct val="100000"/>
              <a:buFont typeface="Arial"/>
              <a:buChar char="—"/>
              <a:defRPr sz="1400">
                <a:latin typeface="Arial"/>
                <a:ea typeface="Arial"/>
                <a:cs typeface="Arial"/>
                <a:sym typeface="Arial"/>
              </a:defRPr>
            </a:pPr>
            <a:r>
              <a:t>XXX</a:t>
            </a:r>
          </a:p>
        </p:txBody>
      </p:sp>
      <p:graphicFrame>
        <p:nvGraphicFramePr>
          <p:cNvPr id="116" name="Table 9"/>
          <p:cNvGraphicFramePr/>
          <p:nvPr/>
        </p:nvGraphicFramePr>
        <p:xfrm>
          <a:off x="353008" y="3182792"/>
          <a:ext cx="7587343" cy="1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2107595"/>
                <a:gridCol w="1621227"/>
                <a:gridCol w="1621227"/>
                <a:gridCol w="2237293"/>
              </a:tblGrid>
              <a:tr h="508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0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Model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0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LOOCV MAE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0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LOOCV R²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0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vs Baseline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508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Naive Baseline (fold mean)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Reference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0.0000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D6DCE4"/>
                    </a:solidFill>
                  </a:tcPr>
                </a:tc>
              </a:tr>
              <a:tr h="50800">
                <a:tc>
                  <a:txBody>
                    <a:bodyPr/>
                    <a:lstStyle/>
                    <a:p>
                      <a:pPr algn="l">
                        <a:defRPr sz="1000"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t>Ridge Regression (RidgeCV) </a:t>
                      </a:r>
                      <a:r>
                        <a:rPr>
                          <a:latin typeface="+mn-lt"/>
                          <a:ea typeface="+mn-ea"/>
                          <a:cs typeface="+mn-cs"/>
                          <a:sym typeface="Helvetica"/>
                        </a:rPr>
                        <a:t>✓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~$1.1M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Marginal positive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000">
                          <a:solidFill>
                            <a:srgbClr val="3756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Beats baseline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E2EFDA"/>
                    </a:solidFill>
                  </a:tcPr>
                </a:tc>
              </a:tr>
              <a:tr h="508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KNN (k=5, distance-weighted)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~$1.3M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Negative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7B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Below baseline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8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Random Forest (depth=3, leaf=5)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~$1.2M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Negative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7B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Below baseline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TextBox 7"/>
          <p:cNvSpPr txBox="1"/>
          <p:nvPr/>
        </p:nvSpPr>
        <p:spPr>
          <a:xfrm>
            <a:off x="148353" y="167945"/>
            <a:ext cx="11674466" cy="497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2F5597"/>
                </a:solidFill>
              </a:defRPr>
            </a:lvl1pPr>
          </a:lstStyle>
          <a:p>
            <a:pPr/>
            <a:r>
              <a:t>Task 1: SHAP Plots/Any Other Plots/Info</a:t>
            </a:r>
          </a:p>
        </p:txBody>
      </p:sp>
      <p:sp>
        <p:nvSpPr>
          <p:cNvPr id="119" name="Straight Connector 1"/>
          <p:cNvSpPr/>
          <p:nvPr/>
        </p:nvSpPr>
        <p:spPr>
          <a:xfrm>
            <a:off x="9327" y="886407"/>
            <a:ext cx="12204002" cy="1"/>
          </a:xfrm>
          <a:prstGeom prst="line">
            <a:avLst/>
          </a:prstGeom>
          <a:ln w="19050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TextBox 7"/>
          <p:cNvSpPr txBox="1"/>
          <p:nvPr/>
        </p:nvSpPr>
        <p:spPr>
          <a:xfrm>
            <a:off x="148353" y="167945"/>
            <a:ext cx="11674466" cy="497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2F5597"/>
                </a:solidFill>
              </a:defRPr>
            </a:lvl1pPr>
          </a:lstStyle>
          <a:p>
            <a:pPr/>
            <a:r>
              <a:t>Task 2: Project Success Classification</a:t>
            </a:r>
          </a:p>
        </p:txBody>
      </p:sp>
      <p:sp>
        <p:nvSpPr>
          <p:cNvPr id="122" name="Straight Connector 1"/>
          <p:cNvSpPr/>
          <p:nvPr/>
        </p:nvSpPr>
        <p:spPr>
          <a:xfrm>
            <a:off x="9327" y="886407"/>
            <a:ext cx="12204002" cy="1"/>
          </a:xfrm>
          <a:prstGeom prst="line">
            <a:avLst/>
          </a:prstGeom>
          <a:ln w="19050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123" name="TextBox 2"/>
          <p:cNvSpPr txBox="1"/>
          <p:nvPr/>
        </p:nvSpPr>
        <p:spPr>
          <a:xfrm>
            <a:off x="111029" y="886406"/>
            <a:ext cx="11763904" cy="55059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285750" indent="-285750">
              <a:lnSpc>
                <a:spcPct val="150000"/>
              </a:lnSpc>
              <a:spcBef>
                <a:spcPts val="400"/>
              </a:spcBef>
              <a:buSzPct val="100000"/>
              <a:buChar char="▪"/>
              <a:defRPr b="1" sz="1400">
                <a:latin typeface="Arial"/>
                <a:ea typeface="Arial"/>
                <a:cs typeface="Arial"/>
                <a:sym typeface="Arial"/>
              </a:defRPr>
            </a:pPr>
            <a:r>
              <a:t>Approach</a:t>
            </a:r>
          </a:p>
          <a:p>
            <a:pPr lvl="1" marL="742950" indent="-285750">
              <a:spcBef>
                <a:spcPts val="600"/>
              </a:spcBef>
              <a:buSzPct val="100000"/>
              <a:buFont typeface="Arial"/>
              <a:buChar char="—"/>
              <a:defRPr sz="1400">
                <a:latin typeface="Arial"/>
                <a:ea typeface="Arial"/>
                <a:cs typeface="Arial"/>
                <a:sym typeface="Arial"/>
              </a:defRPr>
            </a:pPr>
            <a:r>
              <a:t>XXX</a:t>
            </a:r>
          </a:p>
          <a:p>
            <a:pPr marL="285750" indent="-285750">
              <a:lnSpc>
                <a:spcPct val="150000"/>
              </a:lnSpc>
              <a:spcBef>
                <a:spcPts val="400"/>
              </a:spcBef>
              <a:buSzPct val="100000"/>
              <a:buChar char="▪"/>
              <a:defRPr b="1" sz="1400">
                <a:latin typeface="Arial"/>
                <a:ea typeface="Arial"/>
                <a:cs typeface="Arial"/>
                <a:sym typeface="Arial"/>
              </a:defRPr>
            </a:pPr>
          </a:p>
          <a:p>
            <a:pPr marL="285750" indent="-285750">
              <a:lnSpc>
                <a:spcPct val="150000"/>
              </a:lnSpc>
              <a:spcBef>
                <a:spcPts val="400"/>
              </a:spcBef>
              <a:buSzPct val="100000"/>
              <a:buChar char="▪"/>
              <a:defRPr b="1" sz="1400">
                <a:latin typeface="Arial"/>
                <a:ea typeface="Arial"/>
                <a:cs typeface="Arial"/>
                <a:sym typeface="Arial"/>
              </a:defRPr>
            </a:pPr>
            <a:r>
              <a:t>Feature Engineering</a:t>
            </a:r>
          </a:p>
          <a:p>
            <a:pPr marL="285750" indent="-285750">
              <a:lnSpc>
                <a:spcPct val="150000"/>
              </a:lnSpc>
              <a:spcBef>
                <a:spcPts val="400"/>
              </a:spcBef>
              <a:buSzPct val="100000"/>
              <a:buChar char="▪"/>
              <a:defRPr b="1" sz="1400">
                <a:latin typeface="Arial"/>
                <a:ea typeface="Arial"/>
                <a:cs typeface="Arial"/>
                <a:sym typeface="Arial"/>
              </a:defRPr>
            </a:pPr>
          </a:p>
          <a:p>
            <a:pPr marL="285750" indent="-285750">
              <a:lnSpc>
                <a:spcPct val="150000"/>
              </a:lnSpc>
              <a:spcBef>
                <a:spcPts val="400"/>
              </a:spcBef>
              <a:buSzPct val="100000"/>
              <a:buChar char="▪"/>
              <a:defRPr b="1" sz="1400">
                <a:latin typeface="Arial"/>
                <a:ea typeface="Arial"/>
                <a:cs typeface="Arial"/>
                <a:sym typeface="Arial"/>
              </a:defRPr>
            </a:pPr>
            <a:r>
              <a:t>Models Evaluated</a:t>
            </a:r>
          </a:p>
          <a:p>
            <a:pPr lvl="1" indent="0">
              <a:lnSpc>
                <a:spcPct val="150000"/>
              </a:lnSpc>
              <a:spcBef>
                <a:spcPts val="400"/>
              </a:spcBef>
              <a:defRPr b="1" sz="1400">
                <a:latin typeface="Arial"/>
                <a:ea typeface="Arial"/>
                <a:cs typeface="Arial"/>
                <a:sym typeface="Arial"/>
              </a:defRPr>
            </a:pPr>
          </a:p>
          <a:p>
            <a:pPr lvl="1" marL="285750" indent="-285750">
              <a:lnSpc>
                <a:spcPct val="150000"/>
              </a:lnSpc>
              <a:spcBef>
                <a:spcPts val="400"/>
              </a:spcBef>
              <a:buSzPct val="100000"/>
              <a:buChar char="▪"/>
              <a:defRPr b="1" sz="1400">
                <a:latin typeface="Arial"/>
                <a:ea typeface="Arial"/>
                <a:cs typeface="Arial"/>
                <a:sym typeface="Arial"/>
              </a:defRPr>
            </a:pPr>
          </a:p>
          <a:p>
            <a:pPr lvl="1" marL="285750" indent="-285750">
              <a:lnSpc>
                <a:spcPct val="150000"/>
              </a:lnSpc>
              <a:spcBef>
                <a:spcPts val="400"/>
              </a:spcBef>
              <a:buSzPct val="100000"/>
              <a:buChar char="▪"/>
              <a:defRPr b="1" sz="1400">
                <a:latin typeface="Arial"/>
                <a:ea typeface="Arial"/>
                <a:cs typeface="Arial"/>
                <a:sym typeface="Arial"/>
              </a:defRPr>
            </a:pPr>
          </a:p>
          <a:p>
            <a:pPr lvl="1" marL="285750" indent="-285750">
              <a:lnSpc>
                <a:spcPct val="150000"/>
              </a:lnSpc>
              <a:spcBef>
                <a:spcPts val="400"/>
              </a:spcBef>
              <a:buSzPct val="100000"/>
              <a:buChar char="▪"/>
              <a:defRPr b="1" sz="1400">
                <a:latin typeface="Arial"/>
                <a:ea typeface="Arial"/>
                <a:cs typeface="Arial"/>
                <a:sym typeface="Arial"/>
              </a:defRPr>
            </a:pPr>
          </a:p>
          <a:p>
            <a:pPr lvl="1" indent="0">
              <a:lnSpc>
                <a:spcPct val="150000"/>
              </a:lnSpc>
              <a:spcBef>
                <a:spcPts val="400"/>
              </a:spcBef>
              <a:defRPr b="1" sz="1400">
                <a:latin typeface="Arial"/>
                <a:ea typeface="Arial"/>
                <a:cs typeface="Arial"/>
                <a:sym typeface="Arial"/>
              </a:defRPr>
            </a:pPr>
          </a:p>
          <a:p>
            <a:pPr lvl="1" marL="285750" indent="-285750">
              <a:lnSpc>
                <a:spcPct val="150000"/>
              </a:lnSpc>
              <a:spcBef>
                <a:spcPts val="400"/>
              </a:spcBef>
              <a:buSzPct val="100000"/>
              <a:buChar char="▪"/>
              <a:defRPr b="1" sz="1400">
                <a:latin typeface="Arial"/>
                <a:ea typeface="Arial"/>
                <a:cs typeface="Arial"/>
                <a:sym typeface="Arial"/>
              </a:defRPr>
            </a:pPr>
            <a:r>
              <a:t>Key Findings</a:t>
            </a:r>
          </a:p>
          <a:p>
            <a:pPr lvl="2" marL="742950" indent="-285750">
              <a:lnSpc>
                <a:spcPct val="150000"/>
              </a:lnSpc>
              <a:spcBef>
                <a:spcPts val="400"/>
              </a:spcBef>
              <a:buSzPct val="100000"/>
              <a:buFont typeface="Arial"/>
              <a:buChar char="—"/>
              <a:defRPr sz="1400">
                <a:latin typeface="Arial"/>
                <a:ea typeface="Arial"/>
                <a:cs typeface="Arial"/>
                <a:sym typeface="Arial"/>
              </a:defRPr>
            </a:pPr>
            <a:r>
              <a:t>XXX</a:t>
            </a:r>
            <a:endParaRPr b="1"/>
          </a:p>
          <a:p>
            <a:pPr lvl="1" marL="285750" indent="-285750">
              <a:lnSpc>
                <a:spcPct val="150000"/>
              </a:lnSpc>
              <a:spcBef>
                <a:spcPts val="400"/>
              </a:spcBef>
              <a:buSzPct val="100000"/>
              <a:buChar char="▪"/>
              <a:defRPr b="1" sz="1400">
                <a:latin typeface="Arial"/>
                <a:ea typeface="Arial"/>
                <a:cs typeface="Arial"/>
                <a:sym typeface="Arial"/>
              </a:defRPr>
            </a:pPr>
            <a:r>
              <a:t>Limitations</a:t>
            </a:r>
          </a:p>
          <a:p>
            <a:pPr lvl="2" marL="742950" indent="-285750">
              <a:lnSpc>
                <a:spcPct val="150000"/>
              </a:lnSpc>
              <a:spcBef>
                <a:spcPts val="400"/>
              </a:spcBef>
              <a:buSzPct val="100000"/>
              <a:buFont typeface="Arial"/>
              <a:buChar char="—"/>
              <a:defRPr sz="1400">
                <a:latin typeface="Arial"/>
                <a:ea typeface="Arial"/>
                <a:cs typeface="Arial"/>
                <a:sym typeface="Arial"/>
              </a:defRPr>
            </a:pPr>
            <a:r>
              <a:t>XXX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TextBox 7"/>
          <p:cNvSpPr txBox="1"/>
          <p:nvPr/>
        </p:nvSpPr>
        <p:spPr>
          <a:xfrm>
            <a:off x="148353" y="167945"/>
            <a:ext cx="11674466" cy="497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2F5597"/>
                </a:solidFill>
              </a:defRPr>
            </a:lvl1pPr>
          </a:lstStyle>
          <a:p>
            <a:pPr/>
            <a:r>
              <a:t>Task 3: Funding Recommendations - EV &amp; Risk Adjusted Returns</a:t>
            </a:r>
          </a:p>
        </p:txBody>
      </p:sp>
      <p:sp>
        <p:nvSpPr>
          <p:cNvPr id="126" name="Straight Connector 1"/>
          <p:cNvSpPr/>
          <p:nvPr/>
        </p:nvSpPr>
        <p:spPr>
          <a:xfrm>
            <a:off x="9327" y="886407"/>
            <a:ext cx="12204002" cy="1"/>
          </a:xfrm>
          <a:prstGeom prst="line">
            <a:avLst/>
          </a:prstGeom>
          <a:ln w="19050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127" name="TextBox 2"/>
          <p:cNvSpPr txBox="1"/>
          <p:nvPr/>
        </p:nvSpPr>
        <p:spPr>
          <a:xfrm>
            <a:off x="111029" y="886406"/>
            <a:ext cx="11763904" cy="55059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285750" indent="-285750">
              <a:lnSpc>
                <a:spcPct val="150000"/>
              </a:lnSpc>
              <a:spcBef>
                <a:spcPts val="400"/>
              </a:spcBef>
              <a:buSzPct val="100000"/>
              <a:buChar char="▪"/>
              <a:defRPr b="1" sz="1400">
                <a:latin typeface="Arial"/>
                <a:ea typeface="Arial"/>
                <a:cs typeface="Arial"/>
                <a:sym typeface="Arial"/>
              </a:defRPr>
            </a:pPr>
            <a:r>
              <a:t>Approach</a:t>
            </a:r>
          </a:p>
          <a:p>
            <a:pPr lvl="1" marL="742950" indent="-285750">
              <a:spcBef>
                <a:spcPts val="600"/>
              </a:spcBef>
              <a:buSzPct val="100000"/>
              <a:buFont typeface="Arial"/>
              <a:buChar char="—"/>
              <a:defRPr sz="1400">
                <a:latin typeface="Arial"/>
                <a:ea typeface="Arial"/>
                <a:cs typeface="Arial"/>
                <a:sym typeface="Arial"/>
              </a:defRPr>
            </a:pPr>
            <a:r>
              <a:t>XXX</a:t>
            </a:r>
          </a:p>
          <a:p>
            <a:pPr marL="285750" indent="-285750">
              <a:lnSpc>
                <a:spcPct val="150000"/>
              </a:lnSpc>
              <a:spcBef>
                <a:spcPts val="400"/>
              </a:spcBef>
              <a:buSzPct val="100000"/>
              <a:buChar char="▪"/>
              <a:defRPr b="1" sz="1400">
                <a:latin typeface="Arial"/>
                <a:ea typeface="Arial"/>
                <a:cs typeface="Arial"/>
                <a:sym typeface="Arial"/>
              </a:defRPr>
            </a:pPr>
          </a:p>
          <a:p>
            <a:pPr marL="285750" indent="-285750">
              <a:lnSpc>
                <a:spcPct val="150000"/>
              </a:lnSpc>
              <a:spcBef>
                <a:spcPts val="400"/>
              </a:spcBef>
              <a:buSzPct val="100000"/>
              <a:buChar char="▪"/>
              <a:defRPr b="1" sz="1400">
                <a:latin typeface="Arial"/>
                <a:ea typeface="Arial"/>
                <a:cs typeface="Arial"/>
                <a:sym typeface="Arial"/>
              </a:defRPr>
            </a:pPr>
            <a:r>
              <a:t>Feature Engineering</a:t>
            </a:r>
          </a:p>
          <a:p>
            <a:pPr marL="285750" indent="-285750">
              <a:lnSpc>
                <a:spcPct val="150000"/>
              </a:lnSpc>
              <a:spcBef>
                <a:spcPts val="400"/>
              </a:spcBef>
              <a:buSzPct val="100000"/>
              <a:buChar char="▪"/>
              <a:defRPr b="1" sz="1400">
                <a:latin typeface="Arial"/>
                <a:ea typeface="Arial"/>
                <a:cs typeface="Arial"/>
                <a:sym typeface="Arial"/>
              </a:defRPr>
            </a:pPr>
          </a:p>
          <a:p>
            <a:pPr marL="285750" indent="-285750">
              <a:lnSpc>
                <a:spcPct val="150000"/>
              </a:lnSpc>
              <a:spcBef>
                <a:spcPts val="400"/>
              </a:spcBef>
              <a:buSzPct val="100000"/>
              <a:buChar char="▪"/>
              <a:defRPr b="1" sz="1400">
                <a:latin typeface="Arial"/>
                <a:ea typeface="Arial"/>
                <a:cs typeface="Arial"/>
                <a:sym typeface="Arial"/>
              </a:defRPr>
            </a:pPr>
            <a:r>
              <a:t>Models Evaluated</a:t>
            </a:r>
          </a:p>
          <a:p>
            <a:pPr lvl="1" indent="0">
              <a:lnSpc>
                <a:spcPct val="150000"/>
              </a:lnSpc>
              <a:spcBef>
                <a:spcPts val="400"/>
              </a:spcBef>
              <a:defRPr b="1" sz="1400">
                <a:latin typeface="Arial"/>
                <a:ea typeface="Arial"/>
                <a:cs typeface="Arial"/>
                <a:sym typeface="Arial"/>
              </a:defRPr>
            </a:pPr>
          </a:p>
          <a:p>
            <a:pPr lvl="1" marL="285750" indent="-285750">
              <a:lnSpc>
                <a:spcPct val="150000"/>
              </a:lnSpc>
              <a:spcBef>
                <a:spcPts val="400"/>
              </a:spcBef>
              <a:buSzPct val="100000"/>
              <a:buChar char="▪"/>
              <a:defRPr b="1" sz="1400">
                <a:latin typeface="Arial"/>
                <a:ea typeface="Arial"/>
                <a:cs typeface="Arial"/>
                <a:sym typeface="Arial"/>
              </a:defRPr>
            </a:pPr>
          </a:p>
          <a:p>
            <a:pPr lvl="1" marL="285750" indent="-285750">
              <a:lnSpc>
                <a:spcPct val="150000"/>
              </a:lnSpc>
              <a:spcBef>
                <a:spcPts val="400"/>
              </a:spcBef>
              <a:buSzPct val="100000"/>
              <a:buChar char="▪"/>
              <a:defRPr b="1" sz="1400">
                <a:latin typeface="Arial"/>
                <a:ea typeface="Arial"/>
                <a:cs typeface="Arial"/>
                <a:sym typeface="Arial"/>
              </a:defRPr>
            </a:pPr>
          </a:p>
          <a:p>
            <a:pPr lvl="1" marL="285750" indent="-285750">
              <a:lnSpc>
                <a:spcPct val="150000"/>
              </a:lnSpc>
              <a:spcBef>
                <a:spcPts val="400"/>
              </a:spcBef>
              <a:buSzPct val="100000"/>
              <a:buChar char="▪"/>
              <a:defRPr b="1" sz="1400">
                <a:latin typeface="Arial"/>
                <a:ea typeface="Arial"/>
                <a:cs typeface="Arial"/>
                <a:sym typeface="Arial"/>
              </a:defRPr>
            </a:pPr>
          </a:p>
          <a:p>
            <a:pPr lvl="1" indent="0">
              <a:lnSpc>
                <a:spcPct val="150000"/>
              </a:lnSpc>
              <a:spcBef>
                <a:spcPts val="400"/>
              </a:spcBef>
              <a:defRPr b="1" sz="1400">
                <a:latin typeface="Arial"/>
                <a:ea typeface="Arial"/>
                <a:cs typeface="Arial"/>
                <a:sym typeface="Arial"/>
              </a:defRPr>
            </a:pPr>
          </a:p>
          <a:p>
            <a:pPr lvl="1" marL="285750" indent="-285750">
              <a:lnSpc>
                <a:spcPct val="150000"/>
              </a:lnSpc>
              <a:spcBef>
                <a:spcPts val="400"/>
              </a:spcBef>
              <a:buSzPct val="100000"/>
              <a:buChar char="▪"/>
              <a:defRPr b="1" sz="1400">
                <a:latin typeface="Arial"/>
                <a:ea typeface="Arial"/>
                <a:cs typeface="Arial"/>
                <a:sym typeface="Arial"/>
              </a:defRPr>
            </a:pPr>
            <a:r>
              <a:t>Key Findings</a:t>
            </a:r>
          </a:p>
          <a:p>
            <a:pPr lvl="2" marL="742950" indent="-285750">
              <a:lnSpc>
                <a:spcPct val="150000"/>
              </a:lnSpc>
              <a:spcBef>
                <a:spcPts val="400"/>
              </a:spcBef>
              <a:buSzPct val="100000"/>
              <a:buFont typeface="Arial"/>
              <a:buChar char="—"/>
              <a:defRPr sz="1400">
                <a:latin typeface="Arial"/>
                <a:ea typeface="Arial"/>
                <a:cs typeface="Arial"/>
                <a:sym typeface="Arial"/>
              </a:defRPr>
            </a:pPr>
            <a:r>
              <a:t>XXX</a:t>
            </a:r>
            <a:endParaRPr b="1"/>
          </a:p>
          <a:p>
            <a:pPr lvl="1" marL="285750" indent="-285750">
              <a:lnSpc>
                <a:spcPct val="150000"/>
              </a:lnSpc>
              <a:spcBef>
                <a:spcPts val="400"/>
              </a:spcBef>
              <a:buSzPct val="100000"/>
              <a:buChar char="▪"/>
              <a:defRPr b="1" sz="1400">
                <a:latin typeface="Arial"/>
                <a:ea typeface="Arial"/>
                <a:cs typeface="Arial"/>
                <a:sym typeface="Arial"/>
              </a:defRPr>
            </a:pPr>
            <a:r>
              <a:t>Limitations</a:t>
            </a:r>
          </a:p>
          <a:p>
            <a:pPr lvl="2" marL="742950" indent="-285750">
              <a:lnSpc>
                <a:spcPct val="150000"/>
              </a:lnSpc>
              <a:spcBef>
                <a:spcPts val="400"/>
              </a:spcBef>
              <a:buSzPct val="100000"/>
              <a:buFont typeface="Arial"/>
              <a:buChar char="—"/>
              <a:defRPr sz="1400">
                <a:latin typeface="Arial"/>
                <a:ea typeface="Arial"/>
                <a:cs typeface="Arial"/>
                <a:sym typeface="Arial"/>
              </a:defRPr>
            </a:pPr>
            <a:r>
              <a:t>XXX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TextBox 7"/>
          <p:cNvSpPr txBox="1"/>
          <p:nvPr/>
        </p:nvSpPr>
        <p:spPr>
          <a:xfrm>
            <a:off x="148353" y="167945"/>
            <a:ext cx="11674466" cy="497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2F5597"/>
                </a:solidFill>
              </a:defRPr>
            </a:lvl1pPr>
          </a:lstStyle>
          <a:p>
            <a:pPr/>
            <a:r>
              <a:t>Ranked Project List</a:t>
            </a:r>
          </a:p>
        </p:txBody>
      </p:sp>
      <p:sp>
        <p:nvSpPr>
          <p:cNvPr id="130" name="Straight Connector 1"/>
          <p:cNvSpPr/>
          <p:nvPr/>
        </p:nvSpPr>
        <p:spPr>
          <a:xfrm>
            <a:off x="9327" y="886407"/>
            <a:ext cx="12204002" cy="1"/>
          </a:xfrm>
          <a:prstGeom prst="line">
            <a:avLst/>
          </a:prstGeom>
          <a:ln w="19050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131" name="TextBox 2"/>
          <p:cNvSpPr txBox="1"/>
          <p:nvPr/>
        </p:nvSpPr>
        <p:spPr>
          <a:xfrm>
            <a:off x="111029" y="886407"/>
            <a:ext cx="11763904" cy="920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  <a:defRPr b="1" sz="1400">
                <a:latin typeface="Arial"/>
                <a:ea typeface="Arial"/>
                <a:cs typeface="Arial"/>
                <a:sym typeface="Arial"/>
              </a:defRPr>
            </a:pPr>
          </a:p>
          <a:p>
            <a:pPr lvl="1" marL="742950" indent="-285750">
              <a:spcBef>
                <a:spcPts val="600"/>
              </a:spcBef>
              <a:buSzPct val="100000"/>
              <a:buFont typeface="Arial"/>
              <a:buChar char="—"/>
              <a:defRPr sz="1400">
                <a:latin typeface="Arial"/>
                <a:ea typeface="Arial"/>
                <a:cs typeface="Arial"/>
                <a:sym typeface="Arial"/>
              </a:defRPr>
            </a:pPr>
            <a:r>
              <a:t>XXX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TextBox 7"/>
          <p:cNvSpPr txBox="1"/>
          <p:nvPr/>
        </p:nvSpPr>
        <p:spPr>
          <a:xfrm>
            <a:off x="111031" y="167945"/>
            <a:ext cx="8884610" cy="497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2F5597"/>
                </a:solidFill>
              </a:defRPr>
            </a:lvl1pPr>
          </a:lstStyle>
          <a:p>
            <a:pPr/>
            <a:r>
              <a:t>Risk &amp; Recommendations</a:t>
            </a:r>
          </a:p>
        </p:txBody>
      </p:sp>
      <p:sp>
        <p:nvSpPr>
          <p:cNvPr id="134" name="Straight Connector 1"/>
          <p:cNvSpPr/>
          <p:nvPr/>
        </p:nvSpPr>
        <p:spPr>
          <a:xfrm>
            <a:off x="9327" y="886407"/>
            <a:ext cx="12204002" cy="1"/>
          </a:xfrm>
          <a:prstGeom prst="line">
            <a:avLst/>
          </a:prstGeom>
          <a:ln w="19050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135" name="TextBox 3"/>
          <p:cNvSpPr txBox="1"/>
          <p:nvPr/>
        </p:nvSpPr>
        <p:spPr>
          <a:xfrm>
            <a:off x="111029" y="886407"/>
            <a:ext cx="11763904" cy="8476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lvl="1" marL="742950" indent="-285750">
              <a:spcBef>
                <a:spcPts val="600"/>
              </a:spcBef>
              <a:buSzPct val="100000"/>
              <a:buFont typeface="Arial"/>
              <a:buChar char="—"/>
              <a:defRPr sz="1400">
                <a:latin typeface="Arial"/>
                <a:ea typeface="Arial"/>
                <a:cs typeface="Arial"/>
                <a:sym typeface="Arial"/>
              </a:defRPr>
            </a:pPr>
          </a:p>
          <a:p>
            <a:pPr lvl="1" marL="742950" indent="-285750">
              <a:spcBef>
                <a:spcPts val="600"/>
              </a:spcBef>
              <a:buSzPct val="100000"/>
              <a:buFont typeface="Arial"/>
              <a:buChar char="—"/>
              <a:defRPr sz="1400">
                <a:latin typeface="Arial"/>
                <a:ea typeface="Arial"/>
                <a:cs typeface="Arial"/>
                <a:sym typeface="Arial"/>
              </a:defRPr>
            </a:pPr>
            <a:r>
              <a:t>XXX</a:t>
            </a:r>
          </a:p>
          <a:p>
            <a:pPr lvl="1" marL="742950" indent="-285750">
              <a:spcBef>
                <a:spcPts val="600"/>
              </a:spcBef>
              <a:buSzPct val="100000"/>
              <a:buFont typeface="Arial"/>
              <a:buChar char="—"/>
              <a:defRPr sz="1400">
                <a:latin typeface="Arial"/>
                <a:ea typeface="Arial"/>
                <a:cs typeface="Arial"/>
                <a:sym typeface="Arial"/>
              </a:defRPr>
            </a:pPr>
            <a:r>
              <a:t>XXX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TextBox 4"/>
          <p:cNvSpPr txBox="1"/>
          <p:nvPr/>
        </p:nvSpPr>
        <p:spPr>
          <a:xfrm>
            <a:off x="167018" y="2543501"/>
            <a:ext cx="11842413" cy="9069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b="1" sz="3200">
                <a:solidFill>
                  <a:srgbClr val="2F559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Module 2: Banking Module (MS)</a:t>
            </a:r>
          </a:p>
          <a:p>
            <a:pPr/>
            <a:r>
              <a:t>                                          </a:t>
            </a:r>
            <a:r>
              <a:rPr b="1" sz="2400">
                <a:solidFill>
                  <a:srgbClr val="2F5597"/>
                </a:solidFill>
                <a:latin typeface="Arial"/>
                <a:ea typeface="Arial"/>
                <a:cs typeface="Arial"/>
                <a:sym typeface="Arial"/>
              </a:rPr>
              <a:t>Objective: Assess loan portfolio and detect fraud  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TextBox 7"/>
          <p:cNvSpPr txBox="1"/>
          <p:nvPr/>
        </p:nvSpPr>
        <p:spPr>
          <a:xfrm>
            <a:off x="139026" y="167945"/>
            <a:ext cx="9862503" cy="497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2F5597"/>
                </a:solidFill>
              </a:defRPr>
            </a:lvl1pPr>
          </a:lstStyle>
          <a:p>
            <a:pPr/>
            <a:r>
              <a:t>Overall approach:</a:t>
            </a:r>
          </a:p>
        </p:txBody>
      </p:sp>
      <p:sp>
        <p:nvSpPr>
          <p:cNvPr id="140" name="Straight Connector 1"/>
          <p:cNvSpPr/>
          <p:nvPr/>
        </p:nvSpPr>
        <p:spPr>
          <a:xfrm>
            <a:off x="9327" y="886407"/>
            <a:ext cx="12204002" cy="1"/>
          </a:xfrm>
          <a:prstGeom prst="line">
            <a:avLst/>
          </a:prstGeom>
          <a:ln w="19050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141" name="TextBox 3"/>
          <p:cNvSpPr txBox="1"/>
          <p:nvPr/>
        </p:nvSpPr>
        <p:spPr>
          <a:xfrm>
            <a:off x="139026" y="923734"/>
            <a:ext cx="11142617" cy="47186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000"/>
              </a:spcBef>
              <a:defRPr b="1" sz="20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1. Dataset</a:t>
            </a:r>
            <a:endParaRPr sz="1200"/>
          </a:p>
          <a:p>
            <a:pPr lvl="1" marL="628650" indent="-171450">
              <a:buSzPct val="100000"/>
              <a:buFont typeface="Arial"/>
              <a:buChar char="—"/>
              <a:defRPr sz="20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Loan Portfolio: 100 entries</a:t>
            </a:r>
            <a:endParaRPr sz="1200"/>
          </a:p>
          <a:p>
            <a:pPr lvl="1" marL="628650" indent="-171450">
              <a:buSzPct val="100000"/>
              <a:buFont typeface="Arial"/>
              <a:buChar char="—"/>
              <a:defRPr sz="20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Transactions: 200 entries</a:t>
            </a:r>
            <a:endParaRPr sz="1200"/>
          </a:p>
          <a:p>
            <a:pPr lvl="1" marL="628650" indent="-171450">
              <a:buSzPct val="100000"/>
              <a:buFont typeface="Arial"/>
              <a:buChar char="—"/>
              <a:defRPr sz="20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Format: csv</a:t>
            </a:r>
            <a:endParaRPr sz="1200"/>
          </a:p>
          <a:p>
            <a:pPr>
              <a:spcBef>
                <a:spcPts val="1000"/>
              </a:spcBef>
              <a:defRPr b="1" sz="20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2. Supervised Classification</a:t>
            </a:r>
            <a:endParaRPr sz="1200"/>
          </a:p>
          <a:p>
            <a:pPr lvl="1" marL="628650" indent="-171450">
              <a:buSzPct val="100000"/>
              <a:buFont typeface="Arial"/>
              <a:buChar char="—"/>
              <a:defRPr sz="20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Classifiers: Ridge Regression, Lasso Regression, Logistic Regression, Decision Tree, Isolation Forest</a:t>
            </a:r>
            <a:endParaRPr sz="1200"/>
          </a:p>
          <a:p>
            <a:pPr lvl="1" marL="628650" indent="-171450">
              <a:buSzPct val="100000"/>
              <a:buFont typeface="Arial"/>
              <a:buChar char="—"/>
              <a:defRPr sz="20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Metrics: RMSE, R², F1-Macro Score, Confusion Matrix, AUC-ROC</a:t>
            </a:r>
            <a:endParaRPr sz="1200"/>
          </a:p>
          <a:p>
            <a:pPr>
              <a:spcBef>
                <a:spcPts val="1000"/>
              </a:spcBef>
              <a:defRPr b="1" sz="20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3. Results Summary</a:t>
            </a:r>
            <a:endParaRPr sz="1200"/>
          </a:p>
          <a:p>
            <a:pPr lvl="1" marL="628650" indent="-171450">
              <a:buSzPct val="100000"/>
              <a:buFont typeface="Arial"/>
              <a:buChar char="—"/>
              <a:defRPr sz="20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Ridge Regression: RMSE: 0.0910, R²: -0.054</a:t>
            </a:r>
            <a:endParaRPr sz="1200"/>
          </a:p>
          <a:p>
            <a:pPr lvl="1" marL="628650" indent="-171450">
              <a:buSzPct val="100000"/>
              <a:buFont typeface="Arial"/>
              <a:buChar char="—"/>
              <a:defRPr sz="20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Lasso Regression:  RMSE: 0.0895, R²: -0.020</a:t>
            </a:r>
            <a:endParaRPr sz="1200"/>
          </a:p>
          <a:p>
            <a:pPr lvl="1" marL="628650" indent="-171450">
              <a:buSzPct val="100000"/>
              <a:buFont typeface="Arial"/>
              <a:buChar char="—"/>
              <a:defRPr sz="20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Logistic Regression: F1: 0.8017</a:t>
            </a:r>
            <a:endParaRPr sz="1200"/>
          </a:p>
          <a:p>
            <a:pPr lvl="1" marL="628650" indent="-171450">
              <a:buSzPct val="100000"/>
              <a:buFont typeface="Arial"/>
              <a:buChar char="—"/>
              <a:defRPr sz="20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Decision Tree: F1: 0.4793</a:t>
            </a:r>
            <a:endParaRPr sz="1200"/>
          </a:p>
          <a:p>
            <a:pPr lvl="1" marL="628650" indent="-171450">
              <a:buSzPct val="100000"/>
              <a:buFont typeface="Arial"/>
              <a:buChar char="—"/>
              <a:defRPr sz="20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Logistic Regression(Fraud Detection): Precision: 0.047, Recall: 1.000, AUC-ROC: 0.231</a:t>
            </a:r>
            <a:endParaRPr sz="1200"/>
          </a:p>
          <a:p>
            <a:pPr lvl="1" marL="628650" indent="-171450">
              <a:buSzPct val="100000"/>
              <a:buFont typeface="Arial"/>
              <a:buChar char="—"/>
              <a:defRPr sz="20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Isolation Forest: Precision: 0.066, Recall: 0.556, AUC-ROC: 0.534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TextBox 7"/>
          <p:cNvSpPr txBox="1"/>
          <p:nvPr/>
        </p:nvSpPr>
        <p:spPr>
          <a:xfrm>
            <a:off x="148353" y="167945"/>
            <a:ext cx="11674466" cy="497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2F5597"/>
                </a:solidFill>
              </a:defRPr>
            </a:lvl1pPr>
          </a:lstStyle>
          <a:p>
            <a:pPr/>
            <a:r>
              <a:t>Task 1: Credit Risk Approach</a:t>
            </a:r>
          </a:p>
        </p:txBody>
      </p:sp>
      <p:sp>
        <p:nvSpPr>
          <p:cNvPr id="144" name="Straight Connector 1"/>
          <p:cNvSpPr/>
          <p:nvPr/>
        </p:nvSpPr>
        <p:spPr>
          <a:xfrm>
            <a:off x="9327" y="886407"/>
            <a:ext cx="12204002" cy="1"/>
          </a:xfrm>
          <a:prstGeom prst="line">
            <a:avLst/>
          </a:prstGeom>
          <a:ln w="19050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145" name="TextBox 6"/>
          <p:cNvSpPr txBox="1"/>
          <p:nvPr/>
        </p:nvSpPr>
        <p:spPr>
          <a:xfrm>
            <a:off x="111029" y="886406"/>
            <a:ext cx="11763904" cy="59886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1400">
                <a:latin typeface="Arial"/>
                <a:ea typeface="Arial"/>
                <a:cs typeface="Arial"/>
                <a:sym typeface="Arial"/>
              </a:defRPr>
            </a:pPr>
            <a:r>
              <a:t>STAGE 1: PROBABILITY OF DEFAULT (PD) PREDICTION</a:t>
            </a:r>
          </a:p>
          <a:p>
            <a:pPr>
              <a:defRPr b="1" sz="1400">
                <a:latin typeface="Arial"/>
                <a:ea typeface="Arial"/>
                <a:cs typeface="Arial"/>
                <a:sym typeface="Arial"/>
              </a:defRPr>
            </a:pPr>
          </a:p>
          <a:p>
            <a:pPr marL="342900" indent="-342900">
              <a:buSzPct val="100000"/>
              <a:buAutoNum type="arabicPeriod" startAt="1"/>
              <a:defRPr b="1" sz="1400">
                <a:latin typeface="Arial"/>
                <a:ea typeface="Arial"/>
                <a:cs typeface="Arial"/>
                <a:sym typeface="Arial"/>
              </a:defRPr>
            </a:pPr>
            <a:r>
              <a:t>Load &amp; Prepare Data</a:t>
            </a:r>
          </a:p>
          <a:p>
            <a:pPr lvl="2" marL="742950" indent="-285750">
              <a:spcBef>
                <a:spcPts val="400"/>
              </a:spcBef>
              <a:buSzPct val="100000"/>
              <a:buFont typeface="Arial"/>
              <a:buChar char="—"/>
              <a:defRPr sz="1400">
                <a:latin typeface="Arial"/>
                <a:ea typeface="Arial"/>
                <a:cs typeface="Arial"/>
                <a:sym typeface="Arial"/>
              </a:defRPr>
            </a:pPr>
            <a:r>
              <a:t>Load loan portfolio dataset (loan_portfolio.csv)</a:t>
            </a:r>
          </a:p>
          <a:p>
            <a:pPr lvl="2" marL="742950" indent="-285750">
              <a:spcBef>
                <a:spcPts val="400"/>
              </a:spcBef>
              <a:buSzPct val="100000"/>
              <a:buFont typeface="Arial"/>
              <a:buChar char="—"/>
              <a:defRPr sz="1400">
                <a:latin typeface="Arial"/>
                <a:ea typeface="Arial"/>
                <a:cs typeface="Arial"/>
                <a:sym typeface="Arial"/>
              </a:defRPr>
            </a:pPr>
            <a:r>
              <a:t>Create engineered features: Loan_to_Income ratio, encode Customer_Type</a:t>
            </a:r>
          </a:p>
          <a:p>
            <a:pPr marL="342900" indent="-342900">
              <a:buSzPct val="100000"/>
              <a:buAutoNum type="arabicPeriod" startAt="1"/>
              <a:defRPr b="1" sz="1400">
                <a:latin typeface="Arial"/>
                <a:ea typeface="Arial"/>
                <a:cs typeface="Arial"/>
                <a:sym typeface="Arial"/>
              </a:defRPr>
            </a:pPr>
            <a:r>
              <a:t>Feature Selection</a:t>
            </a:r>
          </a:p>
          <a:p>
            <a:pPr lvl="2" marL="742950" indent="-285750">
              <a:spcBef>
                <a:spcPts val="400"/>
              </a:spcBef>
              <a:buSzPct val="100000"/>
              <a:buFont typeface="Arial"/>
              <a:buChar char="—"/>
              <a:defRPr sz="1400">
                <a:latin typeface="Arial"/>
                <a:ea typeface="Arial"/>
                <a:cs typeface="Arial"/>
                <a:sym typeface="Arial"/>
              </a:defRPr>
            </a:pPr>
            <a:r>
              <a:t>Select 9 predictor features: Annual Income, Debt-to-Income, Credit History Length, Loan Amount, Interest Rate, Loan Term, Past Default, Loan-to-Income, Customer Type</a:t>
            </a:r>
          </a:p>
          <a:p>
            <a:pPr lvl="2" marL="742950" indent="-285750">
              <a:spcBef>
                <a:spcPts val="400"/>
              </a:spcBef>
              <a:buSzPct val="100000"/>
              <a:buFont typeface="Arial"/>
              <a:buChar char="—"/>
              <a:defRPr sz="1400">
                <a:latin typeface="Arial"/>
                <a:ea typeface="Arial"/>
                <a:cs typeface="Arial"/>
                <a:sym typeface="Arial"/>
              </a:defRPr>
            </a:pPr>
            <a:r>
              <a:t>Target variable: PD (actual probability of default)</a:t>
            </a:r>
          </a:p>
          <a:p>
            <a:pPr marL="342900" indent="-342900">
              <a:buSzPct val="100000"/>
              <a:buAutoNum type="arabicPeriod" startAt="1"/>
              <a:defRPr b="1" sz="1400">
                <a:latin typeface="Arial"/>
                <a:ea typeface="Arial"/>
                <a:cs typeface="Arial"/>
                <a:sym typeface="Arial"/>
              </a:defRPr>
            </a:pPr>
            <a:r>
              <a:t>Data Preprocessing</a:t>
            </a:r>
          </a:p>
          <a:p>
            <a:pPr lvl="2" marL="742950" indent="-285750">
              <a:spcBef>
                <a:spcPts val="400"/>
              </a:spcBef>
              <a:buSzPct val="100000"/>
              <a:buFont typeface="Arial"/>
              <a:buChar char="—"/>
              <a:defRPr sz="1400">
                <a:latin typeface="Arial"/>
                <a:ea typeface="Arial"/>
                <a:cs typeface="Arial"/>
                <a:sym typeface="Arial"/>
              </a:defRPr>
            </a:pPr>
            <a:r>
              <a:t>Standardize all features using StandardScaler (required for linear models)</a:t>
            </a:r>
          </a:p>
          <a:p>
            <a:pPr marL="342900" indent="-342900">
              <a:buSzPct val="100000"/>
              <a:buAutoNum type="arabicPeriod" startAt="1"/>
              <a:defRPr b="1" sz="1400">
                <a:latin typeface="Arial"/>
                <a:ea typeface="Arial"/>
                <a:cs typeface="Arial"/>
                <a:sym typeface="Arial"/>
              </a:defRPr>
            </a:pPr>
            <a:r>
              <a:t>Model Hyperparameter Tuning</a:t>
            </a:r>
          </a:p>
          <a:p>
            <a:pPr lvl="2" marL="742950" indent="-285750">
              <a:spcBef>
                <a:spcPts val="400"/>
              </a:spcBef>
              <a:buSzPct val="100000"/>
              <a:buFont typeface="Arial"/>
              <a:buChar char="—"/>
              <a:defRPr b="1" sz="1400">
                <a:latin typeface="Arial"/>
                <a:ea typeface="Arial"/>
                <a:cs typeface="Arial"/>
                <a:sym typeface="Arial"/>
              </a:defRPr>
            </a:pPr>
            <a:r>
              <a:t>Ridge Regression</a:t>
            </a:r>
            <a:r>
              <a:rPr b="0"/>
              <a:t>: Test 4 alphas [0.1, 1.0, 10.0, 100.0]</a:t>
            </a:r>
          </a:p>
          <a:p>
            <a:pPr lvl="2" marL="742950" indent="-285750">
              <a:spcBef>
                <a:spcPts val="400"/>
              </a:spcBef>
              <a:buSzPct val="100000"/>
              <a:buFont typeface="Arial"/>
              <a:buChar char="—"/>
              <a:defRPr b="1" sz="1400">
                <a:latin typeface="Arial"/>
                <a:ea typeface="Arial"/>
                <a:cs typeface="Arial"/>
                <a:sym typeface="Arial"/>
              </a:defRPr>
            </a:pPr>
            <a:r>
              <a:t>Lasso Regression: </a:t>
            </a:r>
            <a:r>
              <a:rPr b="0"/>
              <a:t>Test 3 alphas [0.001, 0.01, 0.1]</a:t>
            </a:r>
          </a:p>
          <a:p>
            <a:pPr lvl="2" marL="742950" indent="-285750">
              <a:spcBef>
                <a:spcPts val="400"/>
              </a:spcBef>
              <a:buSzPct val="100000"/>
              <a:buFont typeface="Arial"/>
              <a:buChar char="—"/>
              <a:defRPr sz="1400">
                <a:latin typeface="Arial"/>
                <a:ea typeface="Arial"/>
                <a:cs typeface="Arial"/>
                <a:sym typeface="Arial"/>
              </a:defRPr>
            </a:pPr>
            <a:r>
              <a:t>Use Leave-One-Out Cross-Validation (LOOCV) for precise evaluation on small samples</a:t>
            </a:r>
          </a:p>
          <a:p>
            <a:pPr marL="342900" indent="-342900">
              <a:buSzPct val="100000"/>
              <a:buAutoNum type="arabicPeriod" startAt="1"/>
              <a:defRPr b="1" sz="1400">
                <a:latin typeface="Arial"/>
                <a:ea typeface="Arial"/>
                <a:cs typeface="Arial"/>
                <a:sym typeface="Arial"/>
              </a:defRPr>
            </a:pPr>
            <a:r>
              <a:t>Model Selection</a:t>
            </a:r>
          </a:p>
          <a:p>
            <a:pPr lvl="2" marL="742950" indent="-285750">
              <a:spcBef>
                <a:spcPts val="400"/>
              </a:spcBef>
              <a:buSzPct val="100000"/>
              <a:buFont typeface="Arial"/>
              <a:buChar char="—"/>
              <a:defRPr sz="1400">
                <a:latin typeface="Arial"/>
                <a:ea typeface="Arial"/>
                <a:cs typeface="Arial"/>
                <a:sym typeface="Arial"/>
              </a:defRPr>
            </a:pPr>
            <a:r>
              <a:t>Compare RMSE scores from both models</a:t>
            </a:r>
          </a:p>
          <a:p>
            <a:pPr lvl="2" marL="742950" indent="-285750">
              <a:spcBef>
                <a:spcPts val="400"/>
              </a:spcBef>
              <a:buSzPct val="100000"/>
              <a:buFont typeface="Arial"/>
              <a:buChar char="—"/>
              <a:defRPr sz="1400">
                <a:latin typeface="Arial"/>
                <a:ea typeface="Arial"/>
                <a:cs typeface="Arial"/>
                <a:sym typeface="Arial"/>
              </a:defRPr>
            </a:pPr>
            <a:r>
              <a:t>Select model with lower RMSE as the winner</a:t>
            </a:r>
          </a:p>
          <a:p>
            <a:pPr marL="342900" indent="-342900">
              <a:buSzPct val="100000"/>
              <a:buAutoNum type="arabicPeriod" startAt="1"/>
              <a:defRPr b="1" sz="1400">
                <a:latin typeface="Arial"/>
                <a:ea typeface="Arial"/>
                <a:cs typeface="Arial"/>
                <a:sym typeface="Arial"/>
              </a:defRPr>
            </a:pPr>
            <a:r>
              <a:t>Generate Predictions</a:t>
            </a:r>
          </a:p>
          <a:p>
            <a:pPr lvl="2" marL="742950" indent="-285750">
              <a:spcBef>
                <a:spcPts val="400"/>
              </a:spcBef>
              <a:buSzPct val="100000"/>
              <a:buFont typeface="Arial"/>
              <a:buChar char="—"/>
              <a:defRPr sz="1400">
                <a:latin typeface="Arial"/>
                <a:ea typeface="Arial"/>
                <a:cs typeface="Arial"/>
                <a:sym typeface="Arial"/>
              </a:defRPr>
            </a:pPr>
            <a:r>
              <a:t>Train winning model on full dataset</a:t>
            </a:r>
          </a:p>
          <a:p>
            <a:pPr lvl="2" marL="742950" indent="-285750">
              <a:spcBef>
                <a:spcPts val="400"/>
              </a:spcBef>
              <a:buSzPct val="100000"/>
              <a:buFont typeface="Arial"/>
              <a:buChar char="—"/>
              <a:defRPr sz="1400">
                <a:latin typeface="Arial"/>
                <a:ea typeface="Arial"/>
                <a:cs typeface="Arial"/>
                <a:sym typeface="Arial"/>
              </a:defRPr>
            </a:pPr>
            <a:r>
              <a:t>Create PD_predicted column for downstream use</a:t>
            </a:r>
          </a:p>
          <a:p>
            <a:pPr lvl="1" indent="0">
              <a:spcBef>
                <a:spcPts val="400"/>
              </a:spcBef>
              <a:defRPr b="1" sz="2000">
                <a:latin typeface="Arial"/>
                <a:ea typeface="Arial"/>
                <a:cs typeface="Arial"/>
                <a:sym typeface="Arial"/>
              </a:defRPr>
            </a:pPr>
          </a:p>
          <a:p>
            <a:pPr lvl="1" indent="0">
              <a:spcBef>
                <a:spcPts val="400"/>
              </a:spcBef>
              <a:defRPr b="1" sz="2000">
                <a:latin typeface="Arial"/>
                <a:ea typeface="Arial"/>
                <a:cs typeface="Arial"/>
                <a:sym typeface="Arial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TextBox 7"/>
          <p:cNvSpPr txBox="1"/>
          <p:nvPr/>
        </p:nvSpPr>
        <p:spPr>
          <a:xfrm>
            <a:off x="148353" y="167945"/>
            <a:ext cx="11674466" cy="497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2F5597"/>
                </a:solidFill>
              </a:defRPr>
            </a:lvl1pPr>
          </a:lstStyle>
          <a:p>
            <a:pPr/>
            <a:r>
              <a:t>Task 1: Credit Risk Approach</a:t>
            </a:r>
          </a:p>
        </p:txBody>
      </p:sp>
      <p:sp>
        <p:nvSpPr>
          <p:cNvPr id="148" name="Straight Connector 1"/>
          <p:cNvSpPr/>
          <p:nvPr/>
        </p:nvSpPr>
        <p:spPr>
          <a:xfrm>
            <a:off x="9327" y="886407"/>
            <a:ext cx="12204002" cy="1"/>
          </a:xfrm>
          <a:prstGeom prst="line">
            <a:avLst/>
          </a:prstGeom>
          <a:ln w="19050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149" name="TextBox 6"/>
          <p:cNvSpPr txBox="1"/>
          <p:nvPr/>
        </p:nvSpPr>
        <p:spPr>
          <a:xfrm>
            <a:off x="111029" y="886407"/>
            <a:ext cx="11763904" cy="65982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1400">
                <a:latin typeface="Arial"/>
                <a:ea typeface="Arial"/>
                <a:cs typeface="Arial"/>
                <a:sym typeface="Arial"/>
              </a:defRPr>
            </a:pPr>
            <a:r>
              <a:t>STAGE 2: RISK SCORING &amp; CLASSIFICATION</a:t>
            </a:r>
          </a:p>
          <a:p>
            <a:pPr>
              <a:defRPr b="1" sz="1400">
                <a:latin typeface="Arial"/>
                <a:ea typeface="Arial"/>
                <a:cs typeface="Arial"/>
                <a:sym typeface="Arial"/>
              </a:defRPr>
            </a:pPr>
            <a:r>
              <a:t>2A: Weighted Risk Scoring</a:t>
            </a:r>
          </a:p>
          <a:p>
            <a:pPr marL="342900" indent="-342900">
              <a:buSzPct val="100000"/>
              <a:buAutoNum type="arabicPeriod" startAt="1"/>
              <a:defRPr b="1" sz="1400">
                <a:latin typeface="Arial"/>
                <a:ea typeface="Arial"/>
                <a:cs typeface="Arial"/>
                <a:sym typeface="Arial"/>
              </a:defRPr>
            </a:pPr>
            <a:r>
              <a:t>Define Score Components</a:t>
            </a:r>
          </a:p>
          <a:p>
            <a:pPr lvl="2" marL="742950" indent="-285750">
              <a:spcBef>
                <a:spcPts val="400"/>
              </a:spcBef>
              <a:buSzPct val="100000"/>
              <a:buFont typeface="Arial"/>
              <a:buChar char="—"/>
              <a:defRPr sz="1400">
                <a:latin typeface="Arial"/>
                <a:ea typeface="Arial"/>
                <a:cs typeface="Arial"/>
                <a:sym typeface="Arial"/>
              </a:defRPr>
            </a:pPr>
            <a:r>
              <a:t>Create 1-3 scale scores for 6 factors using predefined thresholds:Debt-to-Income, Credit History Length, Interest Rate, Loan-to-Income, Past Default, Predicted PD (from Stage 1)</a:t>
            </a:r>
          </a:p>
          <a:p>
            <a:pPr marL="342900" indent="-342900">
              <a:buSzPct val="100000"/>
              <a:buAutoNum type="arabicPeriod" startAt="1"/>
              <a:defRPr b="1" sz="1400">
                <a:latin typeface="Arial"/>
                <a:ea typeface="Arial"/>
                <a:cs typeface="Arial"/>
                <a:sym typeface="Arial"/>
              </a:defRPr>
            </a:pPr>
            <a:r>
              <a:t>Calculate Weighted Risk Score</a:t>
            </a:r>
          </a:p>
          <a:p>
            <a:pPr lvl="2" marL="742950" indent="-285750">
              <a:spcBef>
                <a:spcPts val="400"/>
              </a:spcBef>
              <a:buSzPct val="100000"/>
              <a:buFont typeface="Arial"/>
              <a:buChar char="—"/>
              <a:defRPr sz="1400">
                <a:latin typeface="Arial"/>
                <a:ea typeface="Arial"/>
                <a:cs typeface="Arial"/>
                <a:sym typeface="Arial"/>
              </a:defRPr>
            </a:pPr>
            <a:r>
              <a:t>Apply weights to each factor: DTI (0.20), Past_Default (0.20), IR (0.15), CHL (0.15), LTI (0.15), PD (0.15)</a:t>
            </a:r>
          </a:p>
          <a:p>
            <a:pPr lvl="2" marL="742950" indent="-285750">
              <a:spcBef>
                <a:spcPts val="400"/>
              </a:spcBef>
              <a:buSzPct val="100000"/>
              <a:buFont typeface="Arial"/>
              <a:buChar char="—"/>
              <a:defRPr sz="1400">
                <a:latin typeface="Arial"/>
                <a:ea typeface="Arial"/>
                <a:cs typeface="Arial"/>
                <a:sym typeface="Arial"/>
              </a:defRPr>
            </a:pPr>
            <a:r>
              <a:t>Aggregate into continuous Risk_Score (range: 1–3)</a:t>
            </a:r>
          </a:p>
          <a:p>
            <a:pPr marL="342900" indent="-342900">
              <a:buSzPct val="100000"/>
              <a:buAutoNum type="arabicPeriod" startAt="1"/>
              <a:defRPr b="1" sz="1400">
                <a:latin typeface="Arial"/>
                <a:ea typeface="Arial"/>
                <a:cs typeface="Arial"/>
                <a:sym typeface="Arial"/>
              </a:defRPr>
            </a:pPr>
            <a:r>
              <a:t>Bin into Risk Categories</a:t>
            </a:r>
          </a:p>
          <a:p>
            <a:pPr lvl="2" marL="742950" indent="-285750">
              <a:spcBef>
                <a:spcPts val="400"/>
              </a:spcBef>
              <a:buSzPct val="100000"/>
              <a:buFont typeface="Arial"/>
              <a:buChar char="—"/>
              <a:defRPr sz="1400">
                <a:latin typeface="Arial"/>
                <a:ea typeface="Arial"/>
                <a:cs typeface="Arial"/>
                <a:sym typeface="Arial"/>
              </a:defRPr>
            </a:pPr>
            <a:r>
              <a:t>Cut Risk_Score into three classes: Low, Medium, High</a:t>
            </a:r>
            <a:endParaRPr b="1"/>
          </a:p>
          <a:p>
            <a:pPr>
              <a:defRPr b="1" sz="1400">
                <a:latin typeface="Arial"/>
                <a:ea typeface="Arial"/>
                <a:cs typeface="Arial"/>
                <a:sym typeface="Arial"/>
              </a:defRPr>
            </a:pPr>
            <a:r>
              <a:t>2B: ML Classification</a:t>
            </a:r>
          </a:p>
          <a:p>
            <a:pPr marL="342900" indent="-342900">
              <a:buSzPct val="100000"/>
              <a:buAutoNum type="arabicPeriod" startAt="1"/>
              <a:defRPr b="1" sz="1400">
                <a:latin typeface="Arial"/>
                <a:ea typeface="Arial"/>
                <a:cs typeface="Arial"/>
                <a:sym typeface="Arial"/>
              </a:defRPr>
            </a:pPr>
            <a:r>
              <a:t>Feature Preparation</a:t>
            </a:r>
          </a:p>
          <a:p>
            <a:pPr lvl="2" marL="742950" indent="-285750">
              <a:spcBef>
                <a:spcPts val="400"/>
              </a:spcBef>
              <a:buSzPct val="100000"/>
              <a:buFont typeface="Arial"/>
              <a:buChar char="—"/>
              <a:defRPr sz="1400">
                <a:latin typeface="Arial"/>
                <a:ea typeface="Arial"/>
                <a:cs typeface="Arial"/>
                <a:sym typeface="Arial"/>
              </a:defRPr>
            </a:pPr>
            <a:r>
              <a:t>Use same 9 features from Stage 1 (exclude Risk_Score to prevent data leakage)</a:t>
            </a:r>
          </a:p>
          <a:p>
            <a:pPr lvl="2" marL="742950" indent="-285750">
              <a:spcBef>
                <a:spcPts val="400"/>
              </a:spcBef>
              <a:buSzPct val="100000"/>
              <a:buFont typeface="Arial"/>
              <a:buChar char="—"/>
              <a:defRPr sz="1400">
                <a:latin typeface="Arial"/>
                <a:ea typeface="Arial"/>
                <a:cs typeface="Arial"/>
                <a:sym typeface="Arial"/>
              </a:defRPr>
            </a:pPr>
            <a:r>
              <a:t>Scale features with StandardScaler</a:t>
            </a:r>
          </a:p>
          <a:p>
            <a:pPr marL="342900" indent="-342900">
              <a:buSzPct val="100000"/>
              <a:buAutoNum type="arabicPeriod" startAt="1"/>
              <a:defRPr b="1" sz="1400">
                <a:latin typeface="Arial"/>
                <a:ea typeface="Arial"/>
                <a:cs typeface="Arial"/>
                <a:sym typeface="Arial"/>
              </a:defRPr>
            </a:pPr>
            <a:r>
              <a:t>Cross-Validation Setup</a:t>
            </a:r>
          </a:p>
          <a:p>
            <a:pPr lvl="2" marL="742950" indent="-285750">
              <a:spcBef>
                <a:spcPts val="400"/>
              </a:spcBef>
              <a:buSzPct val="100000"/>
              <a:buFont typeface="Arial"/>
              <a:buChar char="—"/>
              <a:defRPr sz="1400">
                <a:latin typeface="Arial"/>
                <a:ea typeface="Arial"/>
                <a:cs typeface="Arial"/>
                <a:sym typeface="Arial"/>
              </a:defRPr>
            </a:pPr>
            <a:r>
              <a:t>Configure 5-Fold Stratified K-Fold (preserves class distribution)</a:t>
            </a:r>
          </a:p>
          <a:p>
            <a:pPr marL="342900" indent="-342900">
              <a:buSzPct val="100000"/>
              <a:buAutoNum type="arabicPeriod" startAt="1"/>
              <a:defRPr b="1" sz="1400">
                <a:latin typeface="Arial"/>
                <a:ea typeface="Arial"/>
                <a:cs typeface="Arial"/>
                <a:sym typeface="Arial"/>
              </a:defRPr>
            </a:pPr>
            <a:r>
              <a:t>Model Comparison</a:t>
            </a:r>
          </a:p>
          <a:p>
            <a:pPr lvl="2" marL="742950" indent="-285750">
              <a:spcBef>
                <a:spcPts val="400"/>
              </a:spcBef>
              <a:buSzPct val="100000"/>
              <a:buFont typeface="Arial"/>
              <a:buChar char="—"/>
              <a:defRPr sz="1400">
                <a:latin typeface="Arial"/>
                <a:ea typeface="Arial"/>
                <a:cs typeface="Arial"/>
                <a:sym typeface="Arial"/>
              </a:defRPr>
            </a:pPr>
            <a:r>
              <a:t>Train Logistic Regression (balanced class weights) → compute F1-Macro score</a:t>
            </a:r>
          </a:p>
          <a:p>
            <a:pPr lvl="2" marL="742950" indent="-285750">
              <a:spcBef>
                <a:spcPts val="400"/>
              </a:spcBef>
              <a:buSzPct val="100000"/>
              <a:buFont typeface="Arial"/>
              <a:buChar char="—"/>
              <a:defRPr sz="1400">
                <a:latin typeface="Arial"/>
                <a:ea typeface="Arial"/>
                <a:cs typeface="Arial"/>
                <a:sym typeface="Arial"/>
              </a:defRPr>
            </a:pPr>
            <a:r>
              <a:t>Train Decision Tree (max_depth=3, balanced weights) → compute F1-Macro score</a:t>
            </a:r>
          </a:p>
          <a:p>
            <a:pPr marL="342900" indent="-342900">
              <a:buSzPct val="100000"/>
              <a:buAutoNum type="arabicPeriod" startAt="1"/>
              <a:defRPr b="1" sz="1400">
                <a:latin typeface="Arial"/>
                <a:ea typeface="Arial"/>
                <a:cs typeface="Arial"/>
                <a:sym typeface="Arial"/>
              </a:defRPr>
            </a:pPr>
            <a:r>
              <a:t>Model Selection</a:t>
            </a:r>
          </a:p>
          <a:p>
            <a:pPr lvl="2" marL="742950" indent="-285750">
              <a:spcBef>
                <a:spcPts val="400"/>
              </a:spcBef>
              <a:buSzPct val="100000"/>
              <a:buFont typeface="Arial"/>
              <a:buChar char="—"/>
              <a:defRPr sz="1400">
                <a:latin typeface="Arial"/>
                <a:ea typeface="Arial"/>
                <a:cs typeface="Arial"/>
                <a:sym typeface="Arial"/>
              </a:defRPr>
            </a:pPr>
            <a:r>
              <a:t>Select model with higher F1-Macro score</a:t>
            </a:r>
          </a:p>
          <a:p>
            <a:pPr marL="342900" indent="-342900">
              <a:buSzPct val="100000"/>
              <a:buAutoNum type="arabicPeriod" startAt="1"/>
              <a:defRPr b="1" sz="1400">
                <a:latin typeface="Arial"/>
                <a:ea typeface="Arial"/>
                <a:cs typeface="Arial"/>
                <a:sym typeface="Arial"/>
              </a:defRPr>
            </a:pPr>
            <a:r>
              <a:t>Final Training &amp; Prediction</a:t>
            </a:r>
          </a:p>
          <a:p>
            <a:pPr lvl="2" marL="742950" indent="-285750">
              <a:spcBef>
                <a:spcPts val="400"/>
              </a:spcBef>
              <a:buSzPct val="100000"/>
              <a:buFont typeface="Arial"/>
              <a:buChar char="—"/>
              <a:defRPr sz="1400">
                <a:latin typeface="Arial"/>
                <a:ea typeface="Arial"/>
                <a:cs typeface="Arial"/>
                <a:sym typeface="Arial"/>
              </a:defRPr>
            </a:pPr>
            <a:r>
              <a:t>Train selected model on full dataset</a:t>
            </a:r>
          </a:p>
          <a:p>
            <a:pPr lvl="2" marL="742950" indent="-285750">
              <a:spcBef>
                <a:spcPts val="400"/>
              </a:spcBef>
              <a:buSzPct val="100000"/>
              <a:buFont typeface="Arial"/>
              <a:buChar char="—"/>
              <a:defRPr sz="1400">
                <a:latin typeface="Arial"/>
                <a:ea typeface="Arial"/>
                <a:cs typeface="Arial"/>
                <a:sym typeface="Arial"/>
              </a:defRPr>
            </a:pPr>
            <a:r>
              <a:t>Generate Risk Class predictions</a:t>
            </a:r>
            <a:endParaRPr b="1" sz="2000"/>
          </a:p>
          <a:p>
            <a:pPr lvl="1" indent="0">
              <a:spcBef>
                <a:spcPts val="400"/>
              </a:spcBef>
              <a:defRPr b="1" sz="2000">
                <a:latin typeface="Arial"/>
                <a:ea typeface="Arial"/>
                <a:cs typeface="Arial"/>
                <a:sym typeface="Arial"/>
              </a:defRPr>
            </a:pPr>
          </a:p>
          <a:p>
            <a:pPr lvl="1" indent="0">
              <a:spcBef>
                <a:spcPts val="400"/>
              </a:spcBef>
              <a:defRPr b="1" sz="2000">
                <a:latin typeface="Arial"/>
                <a:ea typeface="Arial"/>
                <a:cs typeface="Arial"/>
                <a:sym typeface="Arial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TextBox 7"/>
          <p:cNvSpPr txBox="1"/>
          <p:nvPr/>
        </p:nvSpPr>
        <p:spPr>
          <a:xfrm>
            <a:off x="148353" y="167945"/>
            <a:ext cx="11674466" cy="497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2F5597"/>
                </a:solidFill>
              </a:defRPr>
            </a:lvl1pPr>
          </a:lstStyle>
          <a:p>
            <a:pPr/>
            <a:r>
              <a:t>Task 1: Metrics/Risk Scored Loan Portfolio</a:t>
            </a:r>
          </a:p>
        </p:txBody>
      </p:sp>
      <p:sp>
        <p:nvSpPr>
          <p:cNvPr id="152" name="Straight Connector 1"/>
          <p:cNvSpPr/>
          <p:nvPr/>
        </p:nvSpPr>
        <p:spPr>
          <a:xfrm>
            <a:off x="9327" y="886407"/>
            <a:ext cx="12204002" cy="1"/>
          </a:xfrm>
          <a:prstGeom prst="line">
            <a:avLst/>
          </a:prstGeom>
          <a:ln w="19050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153" name="TextBox 3"/>
          <p:cNvSpPr txBox="1"/>
          <p:nvPr/>
        </p:nvSpPr>
        <p:spPr>
          <a:xfrm>
            <a:off x="274320" y="1110345"/>
            <a:ext cx="9890760" cy="49979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lvl="1" marL="285750" indent="-285750">
              <a:lnSpc>
                <a:spcPct val="150000"/>
              </a:lnSpc>
              <a:spcBef>
                <a:spcPts val="400"/>
              </a:spcBef>
              <a:buSzPct val="100000"/>
              <a:buChar char="▪"/>
              <a:defRPr b="1" sz="1600">
                <a:latin typeface="Arial"/>
                <a:ea typeface="Arial"/>
                <a:cs typeface="Arial"/>
                <a:sym typeface="Arial"/>
              </a:defRPr>
            </a:pPr>
            <a:r>
              <a:t>Models Evaluated </a:t>
            </a:r>
            <a:endParaRPr sz="1400"/>
          </a:p>
          <a:p>
            <a:pPr lvl="2" marL="742950" indent="-285750">
              <a:lnSpc>
                <a:spcPct val="150000"/>
              </a:lnSpc>
              <a:spcBef>
                <a:spcPts val="400"/>
              </a:spcBef>
              <a:buSzPct val="100000"/>
              <a:buFont typeface="Arial"/>
              <a:buChar char="—"/>
              <a:defRPr sz="1600">
                <a:latin typeface="Arial"/>
                <a:ea typeface="Arial"/>
                <a:cs typeface="Arial"/>
                <a:sym typeface="Arial"/>
              </a:defRPr>
            </a:pPr>
            <a:r>
              <a:t>Lasso Regression – RMSE:0.0895, R²-0.054: </a:t>
            </a:r>
          </a:p>
          <a:p>
            <a:pPr lvl="2" marL="742950" indent="-285750">
              <a:lnSpc>
                <a:spcPct val="150000"/>
              </a:lnSpc>
              <a:spcBef>
                <a:spcPts val="400"/>
              </a:spcBef>
              <a:buSzPct val="100000"/>
              <a:buFont typeface="Arial"/>
              <a:buChar char="—"/>
              <a:defRPr sz="1600">
                <a:latin typeface="Arial"/>
                <a:ea typeface="Arial"/>
                <a:cs typeface="Arial"/>
                <a:sym typeface="Arial"/>
              </a:defRPr>
            </a:pPr>
            <a:r>
              <a:t>Ridge Regression – RMSE:0.0910, R²: -0.020</a:t>
            </a:r>
          </a:p>
          <a:p>
            <a:pPr lvl="2" marL="742950" indent="-285750">
              <a:lnSpc>
                <a:spcPct val="150000"/>
              </a:lnSpc>
              <a:spcBef>
                <a:spcPts val="400"/>
              </a:spcBef>
              <a:buSzPct val="100000"/>
              <a:buFont typeface="Arial"/>
              <a:buChar char="—"/>
              <a:defRPr sz="1600">
                <a:latin typeface="Arial"/>
                <a:ea typeface="Arial"/>
                <a:cs typeface="Arial"/>
                <a:sym typeface="Arial"/>
              </a:defRPr>
            </a:pPr>
            <a:r>
              <a:t>Logistic Regression – F1 Score : 0.8017</a:t>
            </a:r>
            <a:endParaRPr sz="1400"/>
          </a:p>
          <a:p>
            <a:pPr lvl="2" marL="742950" indent="-285750">
              <a:lnSpc>
                <a:spcPct val="150000"/>
              </a:lnSpc>
              <a:spcBef>
                <a:spcPts val="400"/>
              </a:spcBef>
              <a:buSzPct val="100000"/>
              <a:buFont typeface="Arial"/>
              <a:buChar char="—"/>
              <a:defRPr sz="1600">
                <a:latin typeface="Arial"/>
                <a:ea typeface="Arial"/>
                <a:cs typeface="Arial"/>
                <a:sym typeface="Arial"/>
              </a:defRPr>
            </a:pPr>
            <a:r>
              <a:t>Decision Tree – F1 score : 0.4793</a:t>
            </a:r>
            <a:endParaRPr b="1"/>
          </a:p>
          <a:p>
            <a:pPr lvl="1" marL="285750" indent="-285750">
              <a:lnSpc>
                <a:spcPct val="150000"/>
              </a:lnSpc>
              <a:spcBef>
                <a:spcPts val="400"/>
              </a:spcBef>
              <a:buSzPct val="100000"/>
              <a:buChar char="▪"/>
              <a:defRPr b="1" sz="1600">
                <a:latin typeface="Arial"/>
                <a:ea typeface="Arial"/>
                <a:cs typeface="Arial"/>
                <a:sym typeface="Arial"/>
              </a:defRPr>
            </a:pPr>
            <a:r>
              <a:t>Key Findings</a:t>
            </a:r>
            <a:endParaRPr sz="1400"/>
          </a:p>
          <a:p>
            <a:pPr lvl="2" marL="742950" indent="-285750">
              <a:lnSpc>
                <a:spcPct val="150000"/>
              </a:lnSpc>
              <a:spcBef>
                <a:spcPts val="400"/>
              </a:spcBef>
              <a:buSzPct val="100000"/>
              <a:buFont typeface="Arial"/>
              <a:buChar char="—"/>
              <a:defRPr sz="1600">
                <a:latin typeface="Arial"/>
                <a:ea typeface="Arial"/>
                <a:cs typeface="Arial"/>
                <a:sym typeface="Arial"/>
              </a:defRPr>
            </a:pPr>
            <a:r>
              <a:t> Lasso regression selected with marginal positive R² vs Ridge</a:t>
            </a:r>
            <a:endParaRPr sz="1400"/>
          </a:p>
          <a:p>
            <a:pPr lvl="2" marL="742950" indent="-285750">
              <a:lnSpc>
                <a:spcPct val="150000"/>
              </a:lnSpc>
              <a:spcBef>
                <a:spcPts val="400"/>
              </a:spcBef>
              <a:buSzPct val="100000"/>
              <a:buFont typeface="Arial"/>
              <a:buChar char="—"/>
              <a:defRPr sz="1600">
                <a:latin typeface="Arial"/>
                <a:ea typeface="Arial"/>
                <a:cs typeface="Arial"/>
                <a:sym typeface="Arial"/>
              </a:defRPr>
            </a:pPr>
            <a:r>
              <a:t> Logistic regression selected with better F1 score vs Decision Tree</a:t>
            </a:r>
            <a:endParaRPr sz="1400"/>
          </a:p>
          <a:p>
            <a:pPr lvl="2" marL="742950" indent="-285750">
              <a:lnSpc>
                <a:spcPct val="150000"/>
              </a:lnSpc>
              <a:spcBef>
                <a:spcPts val="400"/>
              </a:spcBef>
              <a:buSzPct val="100000"/>
              <a:buFont typeface="Arial"/>
              <a:buChar char="—"/>
              <a:defRPr sz="1600">
                <a:latin typeface="Arial"/>
                <a:ea typeface="Arial"/>
                <a:cs typeface="Arial"/>
                <a:sym typeface="Arial"/>
              </a:defRPr>
            </a:pPr>
            <a:r>
              <a:t> Low Risk -&gt; APPROVE  : 31 loans</a:t>
            </a:r>
            <a:endParaRPr sz="1400"/>
          </a:p>
          <a:p>
            <a:pPr lvl="2" marL="742950" indent="-285750">
              <a:lnSpc>
                <a:spcPct val="150000"/>
              </a:lnSpc>
              <a:spcBef>
                <a:spcPts val="400"/>
              </a:spcBef>
              <a:buSzPct val="100000"/>
              <a:buFont typeface="Arial"/>
              <a:buChar char="—"/>
              <a:defRPr sz="1600">
                <a:latin typeface="Arial"/>
                <a:ea typeface="Arial"/>
                <a:cs typeface="Arial"/>
                <a:sym typeface="Arial"/>
              </a:defRPr>
            </a:pPr>
            <a:r>
              <a:t> Medium Risk -&gt; MONITOR  : 49 loans</a:t>
            </a:r>
            <a:endParaRPr sz="1400"/>
          </a:p>
          <a:p>
            <a:pPr lvl="2" marL="742950" indent="-285750">
              <a:lnSpc>
                <a:spcPct val="150000"/>
              </a:lnSpc>
              <a:spcBef>
                <a:spcPts val="400"/>
              </a:spcBef>
              <a:buSzPct val="100000"/>
              <a:buFont typeface="Arial"/>
              <a:buChar char="—"/>
              <a:defRPr sz="1600">
                <a:latin typeface="Arial"/>
                <a:ea typeface="Arial"/>
                <a:cs typeface="Arial"/>
                <a:sym typeface="Arial"/>
              </a:defRPr>
            </a:pPr>
            <a:r>
              <a:t> High Risk -&gt; REJECT   : 20 loans</a:t>
            </a:r>
            <a:endParaRPr sz="1400"/>
          </a:p>
          <a:p>
            <a:pPr lvl="1" marL="285750" indent="-285750">
              <a:lnSpc>
                <a:spcPct val="150000"/>
              </a:lnSpc>
              <a:spcBef>
                <a:spcPts val="400"/>
              </a:spcBef>
              <a:buSzPct val="100000"/>
              <a:buChar char="▪"/>
              <a:defRPr b="1" sz="1600">
                <a:latin typeface="Arial"/>
                <a:ea typeface="Arial"/>
                <a:cs typeface="Arial"/>
                <a:sym typeface="Arial"/>
              </a:defRPr>
            </a:pPr>
            <a:r>
              <a:t>Limitations</a:t>
            </a:r>
            <a:endParaRPr sz="1400"/>
          </a:p>
          <a:p>
            <a:pPr lvl="2" marL="742950" indent="-285750">
              <a:lnSpc>
                <a:spcPct val="150000"/>
              </a:lnSpc>
              <a:spcBef>
                <a:spcPts val="400"/>
              </a:spcBef>
              <a:buSzPct val="100000"/>
              <a:buFont typeface="Arial"/>
              <a:buChar char="—"/>
              <a:defRPr sz="1600">
                <a:latin typeface="Arial"/>
                <a:ea typeface="Arial"/>
                <a:cs typeface="Arial"/>
                <a:sym typeface="Arial"/>
              </a:defRPr>
            </a:pPr>
            <a:r>
              <a:t> Small sample size (100 loans), no external credit bureau data`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TextBox 7"/>
          <p:cNvSpPr txBox="1"/>
          <p:nvPr/>
        </p:nvSpPr>
        <p:spPr>
          <a:xfrm>
            <a:off x="148353" y="167945"/>
            <a:ext cx="11674466" cy="497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2F5597"/>
                </a:solidFill>
              </a:defRPr>
            </a:lvl1pPr>
          </a:lstStyle>
          <a:p>
            <a:pPr/>
            <a:r>
              <a:t>Task 2: Fraud Detection Approach</a:t>
            </a:r>
          </a:p>
        </p:txBody>
      </p:sp>
      <p:sp>
        <p:nvSpPr>
          <p:cNvPr id="156" name="Straight Connector 1"/>
          <p:cNvSpPr/>
          <p:nvPr/>
        </p:nvSpPr>
        <p:spPr>
          <a:xfrm>
            <a:off x="9327" y="886407"/>
            <a:ext cx="12204002" cy="1"/>
          </a:xfrm>
          <a:prstGeom prst="line">
            <a:avLst/>
          </a:prstGeom>
          <a:ln w="19050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157" name="TextBox 2"/>
          <p:cNvSpPr txBox="1"/>
          <p:nvPr/>
        </p:nvSpPr>
        <p:spPr>
          <a:xfrm>
            <a:off x="111029" y="886406"/>
            <a:ext cx="11763904" cy="69899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  <a:defRPr b="1" sz="1400">
                <a:latin typeface="Arial"/>
                <a:ea typeface="Arial"/>
                <a:cs typeface="Arial"/>
                <a:sym typeface="Arial"/>
              </a:defRPr>
            </a:pPr>
            <a:r>
              <a:t>1. Load &amp; Explore</a:t>
            </a:r>
          </a:p>
          <a:p>
            <a:pPr lvl="2" marL="742950" indent="-285750">
              <a:lnSpc>
                <a:spcPct val="150000"/>
              </a:lnSpc>
              <a:spcBef>
                <a:spcPts val="400"/>
              </a:spcBef>
              <a:buSzPct val="100000"/>
              <a:buFont typeface="Arial"/>
              <a:buChar char="—"/>
              <a:defRPr sz="1400">
                <a:latin typeface="Arial"/>
                <a:ea typeface="Arial"/>
                <a:cs typeface="Arial"/>
                <a:sym typeface="Arial"/>
              </a:defRPr>
            </a:pPr>
            <a:r>
              <a:t>Load transaction dataset, assess class imbalance (9 fraud / 191 legitimate)</a:t>
            </a:r>
          </a:p>
          <a:p>
            <a:pPr>
              <a:lnSpc>
                <a:spcPct val="150000"/>
              </a:lnSpc>
              <a:spcBef>
                <a:spcPts val="400"/>
              </a:spcBef>
              <a:defRPr b="1" sz="1400">
                <a:latin typeface="Arial"/>
                <a:ea typeface="Arial"/>
                <a:cs typeface="Arial"/>
                <a:sym typeface="Arial"/>
              </a:defRPr>
            </a:pPr>
            <a:r>
              <a:t>2. Feature Engineering</a:t>
            </a:r>
          </a:p>
          <a:p>
            <a:pPr lvl="2" marL="742950" indent="-285750">
              <a:lnSpc>
                <a:spcPct val="150000"/>
              </a:lnSpc>
              <a:spcBef>
                <a:spcPts val="400"/>
              </a:spcBef>
              <a:buSzPct val="100000"/>
              <a:buFont typeface="Arial"/>
              <a:buChar char="—"/>
              <a:defRPr sz="1400">
                <a:latin typeface="Arial"/>
                <a:ea typeface="Arial"/>
                <a:cs typeface="Arial"/>
                <a:sym typeface="Arial"/>
              </a:defRPr>
            </a:pPr>
            <a:r>
              <a:t>Temporal: Hour, DayOfWeek, IsWeekend, IsNightTxn</a:t>
            </a:r>
          </a:p>
          <a:p>
            <a:pPr lvl="2" marL="742950" indent="-285750">
              <a:lnSpc>
                <a:spcPct val="150000"/>
              </a:lnSpc>
              <a:spcBef>
                <a:spcPts val="400"/>
              </a:spcBef>
              <a:buSzPct val="100000"/>
              <a:buFont typeface="Arial"/>
              <a:buChar char="—"/>
              <a:defRPr sz="1400">
                <a:latin typeface="Arial"/>
                <a:ea typeface="Arial"/>
                <a:cs typeface="Arial"/>
                <a:sym typeface="Arial"/>
              </a:defRPr>
            </a:pPr>
            <a:r>
              <a:t>Amount: Amount_ZScore (per-customer normalized), Amount_Log</a:t>
            </a:r>
          </a:p>
          <a:p>
            <a:pPr lvl="2" marL="742950" indent="-285750">
              <a:lnSpc>
                <a:spcPct val="150000"/>
              </a:lnSpc>
              <a:spcBef>
                <a:spcPts val="400"/>
              </a:spcBef>
              <a:buSzPct val="100000"/>
              <a:buFont typeface="Arial"/>
              <a:buChar char="—"/>
              <a:defRPr sz="1400">
                <a:latin typeface="Arial"/>
                <a:ea typeface="Arial"/>
                <a:cs typeface="Arial"/>
                <a:sym typeface="Arial"/>
              </a:defRPr>
            </a:pPr>
            <a:r>
              <a:t>Behavioral: Velocity_24h (transaction count), TxnType_Enc</a:t>
            </a:r>
          </a:p>
          <a:p>
            <a:pPr lvl="2" marL="742950" indent="-285750">
              <a:lnSpc>
                <a:spcPct val="150000"/>
              </a:lnSpc>
              <a:spcBef>
                <a:spcPts val="400"/>
              </a:spcBef>
              <a:buSzPct val="100000"/>
              <a:buFont typeface="Arial"/>
              <a:buChar char="—"/>
              <a:defRPr sz="1400">
                <a:latin typeface="Arial"/>
                <a:ea typeface="Arial"/>
                <a:cs typeface="Arial"/>
                <a:sym typeface="Arial"/>
              </a:defRPr>
            </a:pPr>
            <a:r>
              <a:t>Result: 7 features total</a:t>
            </a:r>
          </a:p>
          <a:p>
            <a:pPr>
              <a:lnSpc>
                <a:spcPct val="150000"/>
              </a:lnSpc>
              <a:spcBef>
                <a:spcPts val="400"/>
              </a:spcBef>
              <a:defRPr b="1" sz="1400">
                <a:latin typeface="Arial"/>
                <a:ea typeface="Arial"/>
                <a:cs typeface="Arial"/>
                <a:sym typeface="Arial"/>
              </a:defRPr>
            </a:pPr>
            <a:r>
              <a:t>3. Data Preparation</a:t>
            </a:r>
          </a:p>
          <a:p>
            <a:pPr lvl="2" marL="742950" indent="-285750">
              <a:lnSpc>
                <a:spcPct val="150000"/>
              </a:lnSpc>
              <a:spcBef>
                <a:spcPts val="400"/>
              </a:spcBef>
              <a:buSzPct val="100000"/>
              <a:buFont typeface="Arial"/>
              <a:buChar char="—"/>
              <a:defRPr sz="1400">
                <a:latin typeface="Arial"/>
                <a:ea typeface="Arial"/>
                <a:cs typeface="Arial"/>
                <a:sym typeface="Arial"/>
              </a:defRPr>
            </a:pPr>
            <a:r>
              <a:t>Standardize all features</a:t>
            </a:r>
          </a:p>
          <a:p>
            <a:pPr lvl="2" marL="742950" indent="-285750">
              <a:lnSpc>
                <a:spcPct val="150000"/>
              </a:lnSpc>
              <a:spcBef>
                <a:spcPts val="400"/>
              </a:spcBef>
              <a:buSzPct val="100000"/>
              <a:buFont typeface="Arial"/>
              <a:buChar char="—"/>
              <a:defRPr sz="1400">
                <a:latin typeface="Arial"/>
                <a:ea typeface="Arial"/>
                <a:cs typeface="Arial"/>
                <a:sym typeface="Arial"/>
              </a:defRPr>
            </a:pPr>
            <a:r>
              <a:t>Oversample fraud cases (replicate + add noise) for balanced training</a:t>
            </a:r>
          </a:p>
          <a:p>
            <a:pPr>
              <a:lnSpc>
                <a:spcPct val="150000"/>
              </a:lnSpc>
              <a:spcBef>
                <a:spcPts val="400"/>
              </a:spcBef>
              <a:defRPr b="1" sz="1400">
                <a:latin typeface="Arial"/>
                <a:ea typeface="Arial"/>
                <a:cs typeface="Arial"/>
                <a:sym typeface="Arial"/>
              </a:defRPr>
            </a:pPr>
            <a:r>
              <a:t>4. Logistic Regression (Supervised)</a:t>
            </a:r>
          </a:p>
          <a:p>
            <a:pPr lvl="2" marL="742950" indent="-285750">
              <a:lnSpc>
                <a:spcPct val="150000"/>
              </a:lnSpc>
              <a:spcBef>
                <a:spcPts val="400"/>
              </a:spcBef>
              <a:buSzPct val="100000"/>
              <a:buFont typeface="Arial"/>
              <a:buChar char="—"/>
              <a:defRPr sz="1400">
                <a:latin typeface="Arial"/>
                <a:ea typeface="Arial"/>
                <a:cs typeface="Arial"/>
                <a:sym typeface="Arial"/>
              </a:defRPr>
            </a:pPr>
            <a:r>
              <a:t>Train on balanced data</a:t>
            </a:r>
          </a:p>
          <a:p>
            <a:pPr lvl="2" marL="742950" indent="-285750">
              <a:lnSpc>
                <a:spcPct val="150000"/>
              </a:lnSpc>
              <a:spcBef>
                <a:spcPts val="400"/>
              </a:spcBef>
              <a:buSzPct val="100000"/>
              <a:buFont typeface="Arial"/>
              <a:buChar char="—"/>
              <a:defRPr sz="1400">
                <a:latin typeface="Arial"/>
                <a:ea typeface="Arial"/>
                <a:cs typeface="Arial"/>
                <a:sym typeface="Arial"/>
              </a:defRPr>
            </a:pPr>
            <a:r>
              <a:t>Generate OOF probabilities on imbalanced original data</a:t>
            </a:r>
          </a:p>
          <a:p>
            <a:pPr lvl="2" marL="742950" indent="-285750">
              <a:lnSpc>
                <a:spcPct val="150000"/>
              </a:lnSpc>
              <a:spcBef>
                <a:spcPts val="400"/>
              </a:spcBef>
              <a:buSzPct val="100000"/>
              <a:buFont typeface="Arial"/>
              <a:buChar char="—"/>
              <a:defRPr sz="1400">
                <a:latin typeface="Arial"/>
                <a:ea typeface="Arial"/>
                <a:cs typeface="Arial"/>
                <a:sym typeface="Arial"/>
              </a:defRPr>
            </a:pPr>
            <a:r>
              <a:t>Compute Precision-Recall curve, optimize for F2-Score</a:t>
            </a:r>
          </a:p>
          <a:p>
            <a:pPr lvl="2" marL="742950" indent="-285750">
              <a:lnSpc>
                <a:spcPct val="150000"/>
              </a:lnSpc>
              <a:spcBef>
                <a:spcPts val="400"/>
              </a:spcBef>
              <a:buSzPct val="100000"/>
              <a:buFont typeface="Arial"/>
              <a:buChar char="—"/>
              <a:defRPr sz="1400">
                <a:latin typeface="Arial"/>
                <a:ea typeface="Arial"/>
                <a:cs typeface="Arial"/>
                <a:sym typeface="Arial"/>
              </a:defRPr>
            </a:pPr>
            <a:r>
              <a:t>Report: Precision, Recall, F2, AUC-ROC, PR-AUC</a:t>
            </a:r>
          </a:p>
          <a:p>
            <a:pPr lvl="1" indent="0">
              <a:lnSpc>
                <a:spcPct val="150000"/>
              </a:lnSpc>
              <a:spcBef>
                <a:spcPts val="400"/>
              </a:spcBef>
              <a:defRPr b="1" sz="1400">
                <a:latin typeface="Arial"/>
                <a:ea typeface="Arial"/>
                <a:cs typeface="Arial"/>
                <a:sym typeface="Arial"/>
              </a:defRPr>
            </a:pPr>
          </a:p>
          <a:p>
            <a:pPr lvl="1" indent="0">
              <a:lnSpc>
                <a:spcPct val="150000"/>
              </a:lnSpc>
              <a:spcBef>
                <a:spcPts val="400"/>
              </a:spcBef>
              <a:defRPr b="1" sz="1400">
                <a:latin typeface="Arial"/>
                <a:ea typeface="Arial"/>
                <a:cs typeface="Arial"/>
                <a:sym typeface="Arial"/>
              </a:defRPr>
            </a:pPr>
          </a:p>
          <a:p>
            <a:pPr lvl="1" indent="0">
              <a:lnSpc>
                <a:spcPct val="150000"/>
              </a:lnSpc>
              <a:spcBef>
                <a:spcPts val="400"/>
              </a:spcBef>
              <a:defRPr b="1" sz="1400">
                <a:latin typeface="Arial"/>
                <a:ea typeface="Arial"/>
                <a:cs typeface="Arial"/>
                <a:sym typeface="Arial"/>
              </a:defRPr>
            </a:pPr>
          </a:p>
          <a:p>
            <a:pPr lvl="1" marL="285750" indent="-285750">
              <a:lnSpc>
                <a:spcPct val="150000"/>
              </a:lnSpc>
              <a:spcBef>
                <a:spcPts val="400"/>
              </a:spcBef>
              <a:buSzPct val="100000"/>
              <a:buChar char="▪"/>
              <a:defRPr b="1" sz="1400">
                <a:latin typeface="Arial"/>
                <a:ea typeface="Arial"/>
                <a:cs typeface="Arial"/>
                <a:sym typeface="Arial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TextBox 7"/>
          <p:cNvSpPr txBox="1"/>
          <p:nvPr/>
        </p:nvSpPr>
        <p:spPr>
          <a:xfrm>
            <a:off x="148353" y="167945"/>
            <a:ext cx="11674466" cy="497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2F5597"/>
                </a:solidFill>
              </a:defRPr>
            </a:lvl1pPr>
          </a:lstStyle>
          <a:p>
            <a:pPr/>
            <a:r>
              <a:t>Task 2: Fraud Detection Approach</a:t>
            </a:r>
          </a:p>
        </p:txBody>
      </p:sp>
      <p:sp>
        <p:nvSpPr>
          <p:cNvPr id="160" name="Straight Connector 1"/>
          <p:cNvSpPr/>
          <p:nvPr/>
        </p:nvSpPr>
        <p:spPr>
          <a:xfrm>
            <a:off x="9327" y="886407"/>
            <a:ext cx="12204002" cy="1"/>
          </a:xfrm>
          <a:prstGeom prst="line">
            <a:avLst/>
          </a:prstGeom>
          <a:ln w="19050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161" name="TextBox 2"/>
          <p:cNvSpPr txBox="1"/>
          <p:nvPr/>
        </p:nvSpPr>
        <p:spPr>
          <a:xfrm>
            <a:off x="111029" y="886407"/>
            <a:ext cx="11763904" cy="71140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  <a:defRPr b="1" sz="1600">
                <a:latin typeface="Arial"/>
                <a:ea typeface="Arial"/>
                <a:cs typeface="Arial"/>
                <a:sym typeface="Arial"/>
              </a:defRPr>
            </a:pPr>
            <a:r>
              <a:t>5. Isolation Forest (Unsupervised)</a:t>
            </a:r>
            <a:endParaRPr sz="1400"/>
          </a:p>
          <a:p>
            <a:pPr lvl="2" marL="742950" indent="-285750">
              <a:lnSpc>
                <a:spcPct val="150000"/>
              </a:lnSpc>
              <a:spcBef>
                <a:spcPts val="400"/>
              </a:spcBef>
              <a:buSzPct val="100000"/>
              <a:buFont typeface="Arial"/>
              <a:buChar char="—"/>
              <a:defRPr sz="1600">
                <a:latin typeface="Arial"/>
                <a:ea typeface="Arial"/>
                <a:cs typeface="Arial"/>
                <a:sym typeface="Arial"/>
              </a:defRPr>
            </a:pPr>
            <a:r>
              <a:t>Train on original imbalanced data (no labels)</a:t>
            </a:r>
            <a:endParaRPr sz="1400"/>
          </a:p>
          <a:p>
            <a:pPr lvl="2" marL="742950" indent="-285750">
              <a:lnSpc>
                <a:spcPct val="150000"/>
              </a:lnSpc>
              <a:spcBef>
                <a:spcPts val="400"/>
              </a:spcBef>
              <a:buSzPct val="100000"/>
              <a:buFont typeface="Arial"/>
              <a:buChar char="—"/>
              <a:defRPr sz="1600">
                <a:latin typeface="Arial"/>
                <a:ea typeface="Arial"/>
                <a:cs typeface="Arial"/>
                <a:sym typeface="Arial"/>
              </a:defRPr>
            </a:pPr>
            <a:r>
              <a:t>Convert anomaly scores to pseudo-probabilities</a:t>
            </a:r>
            <a:endParaRPr sz="1400"/>
          </a:p>
          <a:p>
            <a:pPr lvl="2" marL="742950" indent="-285750">
              <a:lnSpc>
                <a:spcPct val="150000"/>
              </a:lnSpc>
              <a:spcBef>
                <a:spcPts val="400"/>
              </a:spcBef>
              <a:buSzPct val="100000"/>
              <a:buFont typeface="Arial"/>
              <a:buChar char="—"/>
              <a:defRPr sz="1600">
                <a:latin typeface="Arial"/>
                <a:ea typeface="Arial"/>
                <a:cs typeface="Arial"/>
                <a:sym typeface="Arial"/>
              </a:defRPr>
            </a:pPr>
            <a:r>
              <a:t>Optimize threshold via F2-Score</a:t>
            </a:r>
            <a:endParaRPr sz="1400"/>
          </a:p>
          <a:p>
            <a:pPr lvl="2" marL="742950" indent="-285750">
              <a:lnSpc>
                <a:spcPct val="150000"/>
              </a:lnSpc>
              <a:spcBef>
                <a:spcPts val="400"/>
              </a:spcBef>
              <a:buSzPct val="100000"/>
              <a:buFont typeface="Arial"/>
              <a:buChar char="—"/>
              <a:defRPr sz="1600">
                <a:latin typeface="Arial"/>
                <a:ea typeface="Arial"/>
                <a:cs typeface="Arial"/>
                <a:sym typeface="Arial"/>
              </a:defRPr>
            </a:pPr>
            <a:r>
              <a:t>Report same metrics as LR</a:t>
            </a:r>
            <a:endParaRPr sz="1400"/>
          </a:p>
          <a:p>
            <a:pPr>
              <a:lnSpc>
                <a:spcPct val="150000"/>
              </a:lnSpc>
              <a:spcBef>
                <a:spcPts val="400"/>
              </a:spcBef>
              <a:defRPr b="1" sz="1600">
                <a:latin typeface="Arial"/>
                <a:ea typeface="Arial"/>
                <a:cs typeface="Arial"/>
                <a:sym typeface="Arial"/>
              </a:defRPr>
            </a:pPr>
            <a:r>
              <a:t>6. Ensemble Alerts</a:t>
            </a:r>
            <a:endParaRPr sz="1400"/>
          </a:p>
          <a:p>
            <a:pPr lvl="2" marL="742950" indent="-285750">
              <a:lnSpc>
                <a:spcPct val="150000"/>
              </a:lnSpc>
              <a:spcBef>
                <a:spcPts val="400"/>
              </a:spcBef>
              <a:buSzPct val="100000"/>
              <a:buFont typeface="Arial"/>
              <a:buChar char="—"/>
              <a:defRPr sz="1600">
                <a:latin typeface="Arial"/>
                <a:ea typeface="Arial"/>
                <a:cs typeface="Arial"/>
                <a:sym typeface="Arial"/>
              </a:defRPr>
            </a:pPr>
            <a:r>
              <a:t>RED: Both LR AND IF flag transaction</a:t>
            </a:r>
            <a:endParaRPr sz="1400"/>
          </a:p>
          <a:p>
            <a:pPr lvl="2" marL="742950" indent="-285750">
              <a:lnSpc>
                <a:spcPct val="150000"/>
              </a:lnSpc>
              <a:spcBef>
                <a:spcPts val="400"/>
              </a:spcBef>
              <a:buSzPct val="100000"/>
              <a:buFont typeface="Arial"/>
              <a:buChar char="—"/>
              <a:defRPr sz="1600">
                <a:latin typeface="Arial"/>
                <a:ea typeface="Arial"/>
                <a:cs typeface="Arial"/>
                <a:sym typeface="Arial"/>
              </a:defRPr>
            </a:pPr>
            <a:r>
              <a:t>AMBER: Either LR OR IF flags transaction</a:t>
            </a:r>
            <a:endParaRPr sz="1400"/>
          </a:p>
          <a:p>
            <a:pPr lvl="2" marL="742950" indent="-285750">
              <a:lnSpc>
                <a:spcPct val="150000"/>
              </a:lnSpc>
              <a:spcBef>
                <a:spcPts val="400"/>
              </a:spcBef>
              <a:buSzPct val="100000"/>
              <a:buFont typeface="Arial"/>
              <a:buChar char="—"/>
              <a:defRPr sz="1600">
                <a:latin typeface="Arial"/>
                <a:ea typeface="Arial"/>
                <a:cs typeface="Arial"/>
                <a:sym typeface="Arial"/>
              </a:defRPr>
            </a:pPr>
            <a:r>
              <a:t>Calculate fraud caught percentage</a:t>
            </a:r>
            <a:endParaRPr sz="1400"/>
          </a:p>
          <a:p>
            <a:pPr>
              <a:lnSpc>
                <a:spcPct val="150000"/>
              </a:lnSpc>
              <a:spcBef>
                <a:spcPts val="400"/>
              </a:spcBef>
              <a:defRPr b="1" sz="1600">
                <a:latin typeface="Arial"/>
                <a:ea typeface="Arial"/>
                <a:cs typeface="Arial"/>
                <a:sym typeface="Arial"/>
              </a:defRPr>
            </a:pPr>
            <a:r>
              <a:t>7. Dashboard &amp; Export</a:t>
            </a:r>
            <a:endParaRPr sz="1400"/>
          </a:p>
          <a:p>
            <a:pPr lvl="2" marL="742950" indent="-285750">
              <a:lnSpc>
                <a:spcPct val="150000"/>
              </a:lnSpc>
              <a:spcBef>
                <a:spcPts val="400"/>
              </a:spcBef>
              <a:buSzPct val="100000"/>
              <a:buFont typeface="Arial"/>
              <a:buChar char="—"/>
              <a:defRPr sz="1600">
                <a:latin typeface="Arial"/>
                <a:ea typeface="Arial"/>
                <a:cs typeface="Arial"/>
                <a:sym typeface="Arial"/>
              </a:defRPr>
            </a:pPr>
            <a:r>
              <a:t>Create 9-panel visualization (class distribution, PR curves, confusion matrices, metrics, feature importance, alerts summary)</a:t>
            </a:r>
            <a:endParaRPr sz="1400"/>
          </a:p>
          <a:p>
            <a:pPr lvl="2" marL="742950" indent="-285750">
              <a:lnSpc>
                <a:spcPct val="150000"/>
              </a:lnSpc>
              <a:spcBef>
                <a:spcPts val="400"/>
              </a:spcBef>
              <a:buSzPct val="100000"/>
              <a:buFont typeface="Arial"/>
              <a:buChar char="—"/>
              <a:defRPr sz="1600">
                <a:latin typeface="Arial"/>
                <a:ea typeface="Arial"/>
                <a:cs typeface="Arial"/>
                <a:sym typeface="Arial"/>
              </a:defRPr>
            </a:pPr>
            <a:r>
              <a:t>Export flagged transactions report (sorted by Alert_Tier and fraud probability)</a:t>
            </a:r>
            <a:endParaRPr sz="1400"/>
          </a:p>
          <a:p>
            <a:pPr lvl="2" marL="742950" indent="-285750">
              <a:lnSpc>
                <a:spcPct val="150000"/>
              </a:lnSpc>
              <a:spcBef>
                <a:spcPts val="400"/>
              </a:spcBef>
              <a:buSzPct val="100000"/>
              <a:buFont typeface="Arial"/>
              <a:buChar char="—"/>
              <a:defRPr sz="1600">
                <a:latin typeface="Arial"/>
                <a:ea typeface="Arial"/>
                <a:cs typeface="Arial"/>
                <a:sym typeface="Arial"/>
              </a:defRPr>
            </a:pPr>
            <a:r>
              <a:t>Key Outputs: Optimal thresholds, fraud dashboard PNG, flagged transaction CSV</a:t>
            </a:r>
            <a:endParaRPr sz="1400"/>
          </a:p>
          <a:p>
            <a:pPr lvl="1" indent="0">
              <a:lnSpc>
                <a:spcPct val="150000"/>
              </a:lnSpc>
              <a:spcBef>
                <a:spcPts val="400"/>
              </a:spcBef>
              <a:defRPr b="1" sz="1400">
                <a:latin typeface="Arial"/>
                <a:ea typeface="Arial"/>
                <a:cs typeface="Arial"/>
                <a:sym typeface="Arial"/>
              </a:defRPr>
            </a:pPr>
          </a:p>
          <a:p>
            <a:pPr lvl="1" indent="0">
              <a:lnSpc>
                <a:spcPct val="150000"/>
              </a:lnSpc>
              <a:spcBef>
                <a:spcPts val="400"/>
              </a:spcBef>
              <a:defRPr b="1" sz="1400">
                <a:latin typeface="Arial"/>
                <a:ea typeface="Arial"/>
                <a:cs typeface="Arial"/>
                <a:sym typeface="Arial"/>
              </a:defRPr>
            </a:pPr>
          </a:p>
          <a:p>
            <a:pPr lvl="1" indent="0">
              <a:lnSpc>
                <a:spcPct val="150000"/>
              </a:lnSpc>
              <a:spcBef>
                <a:spcPts val="400"/>
              </a:spcBef>
              <a:defRPr b="1" sz="1400">
                <a:latin typeface="Arial"/>
                <a:ea typeface="Arial"/>
                <a:cs typeface="Arial"/>
                <a:sym typeface="Arial"/>
              </a:defRPr>
            </a:pPr>
          </a:p>
          <a:p>
            <a:pPr lvl="1" marL="285750" indent="-285750">
              <a:lnSpc>
                <a:spcPct val="150000"/>
              </a:lnSpc>
              <a:spcBef>
                <a:spcPts val="400"/>
              </a:spcBef>
              <a:buSzPct val="100000"/>
              <a:buChar char="▪"/>
              <a:defRPr b="1" sz="1400">
                <a:latin typeface="Arial"/>
                <a:ea typeface="Arial"/>
                <a:cs typeface="Arial"/>
                <a:sym typeface="Arial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TextBox 7"/>
          <p:cNvSpPr txBox="1"/>
          <p:nvPr/>
        </p:nvSpPr>
        <p:spPr>
          <a:xfrm>
            <a:off x="148353" y="167945"/>
            <a:ext cx="11674466" cy="497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2F5597"/>
                </a:solidFill>
              </a:defRPr>
            </a:lvl1pPr>
          </a:lstStyle>
          <a:p>
            <a:pPr/>
            <a:r>
              <a:t>Task 2: Metrics/Fraud Key Findings</a:t>
            </a:r>
          </a:p>
        </p:txBody>
      </p:sp>
      <p:sp>
        <p:nvSpPr>
          <p:cNvPr id="164" name="Straight Connector 1"/>
          <p:cNvSpPr/>
          <p:nvPr/>
        </p:nvSpPr>
        <p:spPr>
          <a:xfrm>
            <a:off x="9327" y="886407"/>
            <a:ext cx="12204002" cy="1"/>
          </a:xfrm>
          <a:prstGeom prst="line">
            <a:avLst/>
          </a:prstGeom>
          <a:ln w="19050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165" name="TextBox 3"/>
          <p:cNvSpPr txBox="1"/>
          <p:nvPr/>
        </p:nvSpPr>
        <p:spPr>
          <a:xfrm>
            <a:off x="241661" y="886407"/>
            <a:ext cx="11279184" cy="76471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lvl="1" marL="285750" indent="-285750">
              <a:lnSpc>
                <a:spcPct val="150000"/>
              </a:lnSpc>
              <a:spcBef>
                <a:spcPts val="400"/>
              </a:spcBef>
              <a:buSzPct val="100000"/>
              <a:buChar char="▪"/>
              <a:defRPr b="1" sz="2000">
                <a:latin typeface="Arial"/>
                <a:ea typeface="Arial"/>
                <a:cs typeface="Arial"/>
                <a:sym typeface="Arial"/>
              </a:defRPr>
            </a:pPr>
            <a:r>
              <a:t>Models Evaluated</a:t>
            </a:r>
            <a:endParaRPr sz="1400"/>
          </a:p>
          <a:p>
            <a:pPr lvl="2" marL="742950" indent="-285750">
              <a:lnSpc>
                <a:spcPct val="150000"/>
              </a:lnSpc>
              <a:spcBef>
                <a:spcPts val="400"/>
              </a:spcBef>
              <a:buSzPct val="100000"/>
              <a:buFont typeface="Arial"/>
              <a:buChar char="—"/>
              <a:defRPr sz="2000">
                <a:latin typeface="Arial"/>
                <a:ea typeface="Arial"/>
                <a:cs typeface="Arial"/>
                <a:sym typeface="Arial"/>
              </a:defRPr>
            </a:pPr>
            <a:r>
              <a:t> Logistic Regression: Precision:0.047 , Recall:1.000, AUC-ROC:0.231</a:t>
            </a:r>
            <a:endParaRPr sz="1400"/>
          </a:p>
          <a:p>
            <a:pPr lvl="2" marL="742950" indent="-285750">
              <a:lnSpc>
                <a:spcPct val="150000"/>
              </a:lnSpc>
              <a:spcBef>
                <a:spcPts val="400"/>
              </a:spcBef>
              <a:buSzPct val="100000"/>
              <a:buFont typeface="Arial"/>
              <a:buChar char="—"/>
              <a:defRPr sz="2000">
                <a:latin typeface="Arial"/>
                <a:ea typeface="Arial"/>
                <a:cs typeface="Arial"/>
                <a:sym typeface="Arial"/>
              </a:defRPr>
            </a:pPr>
            <a:r>
              <a:t> Isolation Forest: Precision:0.066 , Recall:0.556, AUC-ROC: 0.534</a:t>
            </a:r>
          </a:p>
          <a:p>
            <a:pPr lvl="1" marL="285750" indent="-285750">
              <a:lnSpc>
                <a:spcPct val="150000"/>
              </a:lnSpc>
              <a:spcBef>
                <a:spcPts val="400"/>
              </a:spcBef>
              <a:buSzPct val="100000"/>
              <a:buChar char="▪"/>
              <a:defRPr b="1" sz="2000">
                <a:latin typeface="Arial"/>
                <a:ea typeface="Arial"/>
                <a:cs typeface="Arial"/>
                <a:sym typeface="Arial"/>
              </a:defRPr>
            </a:pPr>
            <a:r>
              <a:t>Key Findings</a:t>
            </a:r>
          </a:p>
          <a:p>
            <a:pPr lvl="2" marL="742950" indent="-285750">
              <a:lnSpc>
                <a:spcPct val="150000"/>
              </a:lnSpc>
              <a:spcBef>
                <a:spcPts val="400"/>
              </a:spcBef>
              <a:buSzPct val="100000"/>
              <a:buFont typeface="Arial"/>
              <a:buChar char="—"/>
              <a:defRPr sz="2000">
                <a:latin typeface="Arial"/>
                <a:ea typeface="Arial"/>
                <a:cs typeface="Arial"/>
                <a:sym typeface="Arial"/>
              </a:defRPr>
            </a:pPr>
            <a:r>
              <a:t> Data: 200 transactions, 9 fraud cases (4.5% fraud rate) - imbalanced classification</a:t>
            </a:r>
            <a:endParaRPr sz="1400"/>
          </a:p>
          <a:p>
            <a:pPr lvl="2" marL="742950" indent="-285750">
              <a:lnSpc>
                <a:spcPct val="150000"/>
              </a:lnSpc>
              <a:spcBef>
                <a:spcPts val="400"/>
              </a:spcBef>
              <a:buSzPct val="100000"/>
              <a:buFont typeface="Arial"/>
              <a:buChar char="—"/>
              <a:defRPr sz="2000">
                <a:latin typeface="Arial"/>
                <a:ea typeface="Arial"/>
                <a:cs typeface="Arial"/>
                <a:sym typeface="Arial"/>
              </a:defRPr>
            </a:pPr>
            <a:r>
              <a:t> Threshold Selection: Precision-Recall curve with F2-Score optimization (emphasizes recall)</a:t>
            </a:r>
          </a:p>
          <a:p>
            <a:pPr lvl="2" marL="742950" indent="-285750">
              <a:lnSpc>
                <a:spcPct val="150000"/>
              </a:lnSpc>
              <a:spcBef>
                <a:spcPts val="400"/>
              </a:spcBef>
              <a:buSzPct val="100000"/>
              <a:buFont typeface="Arial"/>
              <a:buChar char="—"/>
              <a:defRPr sz="2000">
                <a:latin typeface="Arial"/>
                <a:ea typeface="Arial"/>
                <a:cs typeface="Arial"/>
                <a:sym typeface="Arial"/>
              </a:defRPr>
            </a:pPr>
            <a:r>
              <a:t> RED Alert  (both model flag)    : 71 transactions</a:t>
            </a:r>
            <a:endParaRPr sz="1400"/>
          </a:p>
          <a:p>
            <a:pPr lvl="2" marL="742950" indent="-285750">
              <a:lnSpc>
                <a:spcPct val="150000"/>
              </a:lnSpc>
              <a:spcBef>
                <a:spcPts val="400"/>
              </a:spcBef>
              <a:buSzPct val="100000"/>
              <a:buFont typeface="Arial"/>
              <a:buChar char="—"/>
              <a:defRPr sz="2000">
                <a:latin typeface="Arial"/>
                <a:ea typeface="Arial"/>
                <a:cs typeface="Arial"/>
                <a:sym typeface="Arial"/>
              </a:defRPr>
            </a:pPr>
            <a:r>
              <a:t> AMBER Alert (either model flags) : 197 transactions</a:t>
            </a:r>
            <a:endParaRPr sz="1400"/>
          </a:p>
          <a:p>
            <a:pPr lvl="2" marL="742950" indent="-285750">
              <a:lnSpc>
                <a:spcPct val="150000"/>
              </a:lnSpc>
              <a:spcBef>
                <a:spcPts val="400"/>
              </a:spcBef>
              <a:buSzPct val="100000"/>
              <a:buFont typeface="Arial"/>
              <a:buChar char="—"/>
              <a:defRPr sz="2000">
                <a:latin typeface="Arial"/>
                <a:ea typeface="Arial"/>
                <a:cs typeface="Arial"/>
                <a:sym typeface="Arial"/>
              </a:defRPr>
            </a:pPr>
            <a:r>
              <a:t> Fraud caught RED     : 5/9  (56%)</a:t>
            </a:r>
            <a:endParaRPr sz="1400"/>
          </a:p>
          <a:p>
            <a:pPr lvl="2" marL="742950" indent="-285750">
              <a:lnSpc>
                <a:spcPct val="150000"/>
              </a:lnSpc>
              <a:spcBef>
                <a:spcPts val="400"/>
              </a:spcBef>
              <a:buSzPct val="100000"/>
              <a:buFont typeface="Arial"/>
              <a:buChar char="—"/>
              <a:defRPr sz="2000">
                <a:latin typeface="Arial"/>
                <a:ea typeface="Arial"/>
                <a:cs typeface="Arial"/>
                <a:sym typeface="Arial"/>
              </a:defRPr>
            </a:pPr>
            <a:r>
              <a:t> Fraud caught AMBER   : 9/9  (100%)</a:t>
            </a:r>
            <a:endParaRPr sz="1400"/>
          </a:p>
          <a:p>
            <a:pPr lvl="2" indent="457200">
              <a:lnSpc>
                <a:spcPct val="150000"/>
              </a:lnSpc>
              <a:spcBef>
                <a:spcPts val="400"/>
              </a:spcBef>
              <a:defRPr sz="2000">
                <a:latin typeface="Arial"/>
                <a:ea typeface="Arial"/>
                <a:cs typeface="Arial"/>
                <a:sym typeface="Arial"/>
              </a:defRPr>
            </a:pPr>
          </a:p>
          <a:p>
            <a:pPr lvl="2" marL="742950" indent="-285750">
              <a:lnSpc>
                <a:spcPct val="150000"/>
              </a:lnSpc>
              <a:spcBef>
                <a:spcPts val="400"/>
              </a:spcBef>
              <a:buSzPct val="100000"/>
              <a:buFont typeface="Arial"/>
              <a:buChar char="—"/>
              <a:defRPr sz="2000">
                <a:latin typeface="Arial"/>
                <a:ea typeface="Arial"/>
                <a:cs typeface="Arial"/>
                <a:sym typeface="Arial"/>
              </a:defRPr>
            </a:pPr>
          </a:p>
          <a:p>
            <a:pPr lvl="2" marL="742950" indent="-285750">
              <a:lnSpc>
                <a:spcPct val="150000"/>
              </a:lnSpc>
              <a:spcBef>
                <a:spcPts val="400"/>
              </a:spcBef>
              <a:buSzPct val="100000"/>
              <a:buFont typeface="Arial"/>
              <a:buChar char="—"/>
              <a:defRPr sz="2000">
                <a:latin typeface="Arial"/>
                <a:ea typeface="Arial"/>
                <a:cs typeface="Arial"/>
                <a:sym typeface="Arial"/>
              </a:defRPr>
            </a:pPr>
          </a:p>
          <a:p>
            <a:pPr lvl="2" marL="742950" indent="-285750">
              <a:lnSpc>
                <a:spcPct val="150000"/>
              </a:lnSpc>
              <a:spcBef>
                <a:spcPts val="400"/>
              </a:spcBef>
              <a:buSzPct val="100000"/>
              <a:buFont typeface="Arial"/>
              <a:buChar char="—"/>
              <a:defRPr sz="2000">
                <a:latin typeface="Arial"/>
                <a:ea typeface="Arial"/>
                <a:cs typeface="Arial"/>
                <a:sym typeface="Arial"/>
              </a:defRPr>
            </a:pPr>
          </a:p>
          <a:p>
            <a:pPr lvl="2" marL="742950" indent="-285750">
              <a:lnSpc>
                <a:spcPct val="150000"/>
              </a:lnSpc>
              <a:spcBef>
                <a:spcPts val="400"/>
              </a:spcBef>
              <a:buSzPct val="100000"/>
              <a:buFont typeface="Arial"/>
              <a:buChar char="—"/>
              <a:defRPr sz="2000">
                <a:latin typeface="Arial"/>
                <a:ea typeface="Arial"/>
                <a:cs typeface="Arial"/>
                <a:sym typeface="Arial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TextBox 7"/>
          <p:cNvSpPr txBox="1"/>
          <p:nvPr/>
        </p:nvSpPr>
        <p:spPr>
          <a:xfrm>
            <a:off x="148353" y="167945"/>
            <a:ext cx="11674466" cy="497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2F5597"/>
                </a:solidFill>
              </a:defRPr>
            </a:lvl1pPr>
          </a:lstStyle>
          <a:p>
            <a:pPr/>
            <a:r>
              <a:t>Task 2: Metrics/Fraud Dashboard</a:t>
            </a:r>
          </a:p>
        </p:txBody>
      </p:sp>
      <p:sp>
        <p:nvSpPr>
          <p:cNvPr id="168" name="Straight Connector 1"/>
          <p:cNvSpPr/>
          <p:nvPr/>
        </p:nvSpPr>
        <p:spPr>
          <a:xfrm>
            <a:off x="9327" y="886407"/>
            <a:ext cx="12204002" cy="1"/>
          </a:xfrm>
          <a:prstGeom prst="line">
            <a:avLst/>
          </a:prstGeom>
          <a:ln w="19050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  <p:pic>
        <p:nvPicPr>
          <p:cNvPr id="169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07818" y="886408"/>
            <a:ext cx="4591692" cy="2789903"/>
          </a:xfrm>
          <a:prstGeom prst="rect">
            <a:avLst/>
          </a:prstGeom>
          <a:ln w="12700">
            <a:miter lim="400000"/>
          </a:ln>
        </p:spPr>
      </p:pic>
      <p:pic>
        <p:nvPicPr>
          <p:cNvPr id="170" name="Picture 5" descr="Picture 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84067" y="3809996"/>
            <a:ext cx="4591692" cy="3048005"/>
          </a:xfrm>
          <a:prstGeom prst="rect">
            <a:avLst/>
          </a:prstGeom>
          <a:ln w="12700">
            <a:miter lim="400000"/>
          </a:ln>
        </p:spPr>
      </p:pic>
      <p:sp>
        <p:nvSpPr>
          <p:cNvPr id="171" name="TextBox 6"/>
          <p:cNvSpPr txBox="1"/>
          <p:nvPr/>
        </p:nvSpPr>
        <p:spPr>
          <a:xfrm>
            <a:off x="7707089" y="968325"/>
            <a:ext cx="2719946" cy="333089"/>
          </a:xfrm>
          <a:prstGeom prst="rect">
            <a:avLst/>
          </a:prstGeom>
          <a:solidFill>
            <a:srgbClr val="D6DCE5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/>
            </a:lvl1pPr>
          </a:lstStyle>
          <a:p>
            <a:pPr/>
            <a:r>
              <a:t>Description</a:t>
            </a:r>
          </a:p>
        </p:txBody>
      </p:sp>
      <p:sp>
        <p:nvSpPr>
          <p:cNvPr id="172" name="Isosceles Triangle 9"/>
          <p:cNvSpPr/>
          <p:nvPr/>
        </p:nvSpPr>
        <p:spPr>
          <a:xfrm rot="5400000">
            <a:off x="5603404" y="2293291"/>
            <a:ext cx="307911" cy="284047"/>
          </a:xfrm>
          <a:prstGeom prst="triangle">
            <a:avLst/>
          </a:prstGeom>
          <a:solidFill>
            <a:schemeClr val="accent1"/>
          </a:solidFill>
          <a:ln w="12700">
            <a:solidFill>
              <a:srgbClr val="1D3053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3" name="Isosceles Triangle 10"/>
          <p:cNvSpPr/>
          <p:nvPr/>
        </p:nvSpPr>
        <p:spPr>
          <a:xfrm rot="5400000">
            <a:off x="5689607" y="4832630"/>
            <a:ext cx="307912" cy="284048"/>
          </a:xfrm>
          <a:prstGeom prst="triangle">
            <a:avLst/>
          </a:prstGeom>
          <a:solidFill>
            <a:schemeClr val="accent1"/>
          </a:solidFill>
          <a:ln w="12700">
            <a:solidFill>
              <a:srgbClr val="1D3053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4" name="TextBox 13"/>
          <p:cNvSpPr txBox="1"/>
          <p:nvPr/>
        </p:nvSpPr>
        <p:spPr>
          <a:xfrm>
            <a:off x="6092240" y="1819826"/>
            <a:ext cx="6054040" cy="17366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285750" indent="-285750">
              <a:spcBef>
                <a:spcPts val="600"/>
              </a:spcBef>
              <a:buSzPct val="100000"/>
              <a:buChar char="▪"/>
              <a:defRPr sz="14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The plot</a:t>
            </a:r>
            <a:r>
              <a:rPr u="sng"/>
              <a:t> </a:t>
            </a:r>
            <a:r>
              <a:t>shows the severe class imbalance in the transaction dataset: 191 legitimate vs 9 fraudulent transactions (4.5% fraud rate).</a:t>
            </a:r>
          </a:p>
          <a:p>
            <a:pPr lvl="1" marL="742950" indent="-285750">
              <a:spcBef>
                <a:spcPts val="600"/>
              </a:spcBef>
              <a:buSzPct val="100000"/>
              <a:buFont typeface="Arial"/>
              <a:buChar char="—"/>
              <a:defRPr sz="14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It demonstrates why standard accuracy metrics would be misleading.</a:t>
            </a:r>
          </a:p>
          <a:p>
            <a:pPr lvl="1" marL="742950" indent="-285750">
              <a:spcBef>
                <a:spcPts val="600"/>
              </a:spcBef>
              <a:buSzPct val="100000"/>
              <a:buFont typeface="Arial"/>
              <a:buChar char="—"/>
              <a:defRPr sz="14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The imbalance necessitates sophisticated techniques like oversampling during model training</a:t>
            </a:r>
          </a:p>
        </p:txBody>
      </p:sp>
      <p:sp>
        <p:nvSpPr>
          <p:cNvPr id="175" name="TextBox 15"/>
          <p:cNvSpPr txBox="1"/>
          <p:nvPr/>
        </p:nvSpPr>
        <p:spPr>
          <a:xfrm>
            <a:off x="6141720" y="4205211"/>
            <a:ext cx="6059978" cy="20668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285750" indent="-285750">
              <a:spcBef>
                <a:spcPts val="600"/>
              </a:spcBef>
              <a:buSzPct val="100000"/>
              <a:buChar char="▪"/>
              <a:defRPr sz="14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The plot</a:t>
            </a:r>
            <a:r>
              <a:rPr u="sng"/>
              <a:t> </a:t>
            </a:r>
            <a:r>
              <a:t>shows the break down of  fraud prevalence by transaction category (Payment, Transfer, Withdrawal). Shows which transaction types attract fraudsters most</a:t>
            </a:r>
          </a:p>
          <a:p>
            <a:pPr lvl="1" marL="742950" indent="-285750">
              <a:spcBef>
                <a:spcPts val="600"/>
              </a:spcBef>
              <a:buSzPct val="100000"/>
              <a:buFont typeface="Arial"/>
              <a:buChar char="—"/>
              <a:defRPr sz="14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 In this data, Withdrawal shows highest fraud rate (~5.0%), suggesting attackers preferentially target cash extraction over internal transfers</a:t>
            </a:r>
          </a:p>
          <a:p>
            <a:pPr lvl="1" marL="742950" indent="-285750">
              <a:spcBef>
                <a:spcPts val="600"/>
              </a:spcBef>
              <a:buSzPct val="100000"/>
              <a:buFont typeface="Arial"/>
              <a:buChar char="—"/>
              <a:defRPr sz="14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This insight enables targeted monitoring strategies—implementing stricter verification for high-fraud transaction types or flagging unusual withdrawal patterns as behavioral anomalies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TextBox 7"/>
          <p:cNvSpPr txBox="1"/>
          <p:nvPr/>
        </p:nvSpPr>
        <p:spPr>
          <a:xfrm>
            <a:off x="148353" y="167945"/>
            <a:ext cx="11674466" cy="497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2F5597"/>
                </a:solidFill>
              </a:defRPr>
            </a:lvl1pPr>
          </a:lstStyle>
          <a:p>
            <a:pPr/>
            <a:r>
              <a:t>Task 2: Metrics/Fraud Dashboard</a:t>
            </a:r>
          </a:p>
        </p:txBody>
      </p:sp>
      <p:sp>
        <p:nvSpPr>
          <p:cNvPr id="178" name="Straight Connector 1"/>
          <p:cNvSpPr/>
          <p:nvPr/>
        </p:nvSpPr>
        <p:spPr>
          <a:xfrm>
            <a:off x="9327" y="886407"/>
            <a:ext cx="12204002" cy="1"/>
          </a:xfrm>
          <a:prstGeom prst="line">
            <a:avLst/>
          </a:prstGeom>
          <a:ln w="19050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179" name="TextBox 6"/>
          <p:cNvSpPr txBox="1"/>
          <p:nvPr/>
        </p:nvSpPr>
        <p:spPr>
          <a:xfrm>
            <a:off x="7707089" y="968325"/>
            <a:ext cx="2719946" cy="333089"/>
          </a:xfrm>
          <a:prstGeom prst="rect">
            <a:avLst/>
          </a:prstGeom>
          <a:solidFill>
            <a:srgbClr val="D6DCE5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/>
            </a:lvl1pPr>
          </a:lstStyle>
          <a:p>
            <a:pPr/>
            <a:r>
              <a:t>Description</a:t>
            </a:r>
          </a:p>
        </p:txBody>
      </p:sp>
      <p:sp>
        <p:nvSpPr>
          <p:cNvPr id="180" name="Isosceles Triangle 9"/>
          <p:cNvSpPr/>
          <p:nvPr/>
        </p:nvSpPr>
        <p:spPr>
          <a:xfrm rot="5400000">
            <a:off x="5603404" y="2293291"/>
            <a:ext cx="307911" cy="284047"/>
          </a:xfrm>
          <a:prstGeom prst="triangle">
            <a:avLst/>
          </a:prstGeom>
          <a:solidFill>
            <a:schemeClr val="accent1"/>
          </a:solidFill>
          <a:ln w="12700">
            <a:solidFill>
              <a:srgbClr val="1D3053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1" name="Isosceles Triangle 10"/>
          <p:cNvSpPr/>
          <p:nvPr/>
        </p:nvSpPr>
        <p:spPr>
          <a:xfrm rot="5400000">
            <a:off x="5689607" y="4832630"/>
            <a:ext cx="307912" cy="284048"/>
          </a:xfrm>
          <a:prstGeom prst="triangle">
            <a:avLst/>
          </a:prstGeom>
          <a:solidFill>
            <a:schemeClr val="accent1"/>
          </a:solidFill>
          <a:ln w="12700">
            <a:solidFill>
              <a:srgbClr val="1D3053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2" name="TextBox 13"/>
          <p:cNvSpPr txBox="1"/>
          <p:nvPr/>
        </p:nvSpPr>
        <p:spPr>
          <a:xfrm>
            <a:off x="6092240" y="1819826"/>
            <a:ext cx="6054040" cy="14572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285750" indent="-285750">
              <a:spcBef>
                <a:spcPts val="600"/>
              </a:spcBef>
              <a:buSzPct val="100000"/>
              <a:buChar char="▪"/>
              <a:defRPr sz="14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The plot</a:t>
            </a:r>
            <a:r>
              <a:rPr u="sng"/>
              <a:t> </a:t>
            </a:r>
            <a:r>
              <a:t>shows the comparison of  transaction amounts between legitimate (blue) and fraud (red) cases</a:t>
            </a:r>
          </a:p>
          <a:p>
            <a:pPr lvl="1" marL="742950" indent="-285750">
              <a:spcBef>
                <a:spcPts val="600"/>
              </a:spcBef>
              <a:buSzPct val="100000"/>
              <a:buFont typeface="Arial"/>
              <a:buChar char="—"/>
              <a:defRPr sz="14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The red fraud distribution often appears shifted toward specific ranges, indicating fraudsters target certain amount thresholds </a:t>
            </a:r>
          </a:p>
          <a:p>
            <a:pPr lvl="1" marL="742950" indent="-285750">
              <a:spcBef>
                <a:spcPts val="600"/>
              </a:spcBef>
              <a:buSzPct val="100000"/>
              <a:buFont typeface="Arial"/>
              <a:buChar char="—"/>
              <a:defRPr sz="14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This visualization justifies the inclusion of amount-based features (Amount_Log, Amount_ZScore) in the mode</a:t>
            </a:r>
          </a:p>
        </p:txBody>
      </p:sp>
      <p:sp>
        <p:nvSpPr>
          <p:cNvPr id="183" name="TextBox 15"/>
          <p:cNvSpPr txBox="1"/>
          <p:nvPr/>
        </p:nvSpPr>
        <p:spPr>
          <a:xfrm>
            <a:off x="6141720" y="4205211"/>
            <a:ext cx="6059978" cy="16604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285750" indent="-285750">
              <a:spcBef>
                <a:spcPts val="600"/>
              </a:spcBef>
              <a:buSzPct val="100000"/>
              <a:buChar char="▪"/>
              <a:defRPr sz="14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Dual line plots showing precision-recall trade-off for both Logistic Regression (blue solid, PR-AUC ≈ 0.531) and Isolation Forest (red dashed, PR-AUC ≈ 0.384).In this data, </a:t>
            </a:r>
          </a:p>
          <a:p>
            <a:pPr lvl="1" marL="742950" indent="-285750">
              <a:spcBef>
                <a:spcPts val="600"/>
              </a:spcBef>
              <a:buSzPct val="100000"/>
              <a:buFont typeface="Arial"/>
              <a:buChar char="—"/>
              <a:defRPr sz="14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 Each point on the curve represents a different classification threshold</a:t>
            </a:r>
          </a:p>
          <a:p>
            <a:pPr lvl="1" marL="742950" indent="-285750">
              <a:spcBef>
                <a:spcPts val="600"/>
              </a:spcBef>
              <a:buSzPct val="100000"/>
              <a:buFont typeface="Arial"/>
              <a:buChar char="—"/>
              <a:defRPr sz="14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High recall is prioritized, reflecting the business cost of missed fraud being much higher than false alarms.</a:t>
            </a:r>
          </a:p>
        </p:txBody>
      </p:sp>
      <p:pic>
        <p:nvPicPr>
          <p:cNvPr id="184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2635" y="904241"/>
            <a:ext cx="5284519" cy="2772070"/>
          </a:xfrm>
          <a:prstGeom prst="rect">
            <a:avLst/>
          </a:prstGeom>
          <a:ln w="12700">
            <a:miter lim="400000"/>
          </a:ln>
        </p:spPr>
      </p:pic>
      <p:pic>
        <p:nvPicPr>
          <p:cNvPr id="185" name="Picture 11" descr="Picture 1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2633" y="3945080"/>
            <a:ext cx="5284520" cy="270547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TextBox 7"/>
          <p:cNvSpPr txBox="1"/>
          <p:nvPr/>
        </p:nvSpPr>
        <p:spPr>
          <a:xfrm>
            <a:off x="148353" y="167945"/>
            <a:ext cx="11674466" cy="497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2F5597"/>
                </a:solidFill>
              </a:defRPr>
            </a:lvl1pPr>
          </a:lstStyle>
          <a:p>
            <a:pPr/>
            <a:r>
              <a:t>Task 2: Metrics/Fraud Dashboard</a:t>
            </a:r>
          </a:p>
        </p:txBody>
      </p:sp>
      <p:sp>
        <p:nvSpPr>
          <p:cNvPr id="188" name="Straight Connector 1"/>
          <p:cNvSpPr/>
          <p:nvPr/>
        </p:nvSpPr>
        <p:spPr>
          <a:xfrm>
            <a:off x="9327" y="886407"/>
            <a:ext cx="12204002" cy="1"/>
          </a:xfrm>
          <a:prstGeom prst="line">
            <a:avLst/>
          </a:prstGeom>
          <a:ln w="19050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189" name="TextBox 6"/>
          <p:cNvSpPr txBox="1"/>
          <p:nvPr/>
        </p:nvSpPr>
        <p:spPr>
          <a:xfrm>
            <a:off x="7707089" y="968325"/>
            <a:ext cx="2719946" cy="333089"/>
          </a:xfrm>
          <a:prstGeom prst="rect">
            <a:avLst/>
          </a:prstGeom>
          <a:solidFill>
            <a:srgbClr val="D6DCE5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/>
            </a:lvl1pPr>
          </a:lstStyle>
          <a:p>
            <a:pPr/>
            <a:r>
              <a:t>Description</a:t>
            </a:r>
          </a:p>
        </p:txBody>
      </p:sp>
      <p:sp>
        <p:nvSpPr>
          <p:cNvPr id="190" name="Isosceles Triangle 9"/>
          <p:cNvSpPr/>
          <p:nvPr/>
        </p:nvSpPr>
        <p:spPr>
          <a:xfrm rot="5400000">
            <a:off x="5603404" y="2293291"/>
            <a:ext cx="307911" cy="284047"/>
          </a:xfrm>
          <a:prstGeom prst="triangle">
            <a:avLst/>
          </a:prstGeom>
          <a:solidFill>
            <a:schemeClr val="accent1"/>
          </a:solidFill>
          <a:ln w="12700">
            <a:solidFill>
              <a:srgbClr val="1D3053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1" name="Isosceles Triangle 10"/>
          <p:cNvSpPr/>
          <p:nvPr/>
        </p:nvSpPr>
        <p:spPr>
          <a:xfrm rot="5400000">
            <a:off x="5689607" y="4832630"/>
            <a:ext cx="307912" cy="284048"/>
          </a:xfrm>
          <a:prstGeom prst="triangle">
            <a:avLst/>
          </a:prstGeom>
          <a:solidFill>
            <a:schemeClr val="accent1"/>
          </a:solidFill>
          <a:ln w="12700">
            <a:solidFill>
              <a:srgbClr val="1D3053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2" name="TextBox 13"/>
          <p:cNvSpPr txBox="1"/>
          <p:nvPr/>
        </p:nvSpPr>
        <p:spPr>
          <a:xfrm>
            <a:off x="6092240" y="1819826"/>
            <a:ext cx="6054040" cy="19398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285750" indent="-285750">
              <a:spcBef>
                <a:spcPts val="600"/>
              </a:spcBef>
              <a:buSzPct val="100000"/>
              <a:buChar char="▪"/>
              <a:defRPr sz="14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The plot</a:t>
            </a:r>
            <a:r>
              <a:rPr u="sng"/>
              <a:t> </a:t>
            </a:r>
            <a:r>
              <a:t>shows how F2-Score changes as the decision threshold varies (0.0 to 1.0) for both models.</a:t>
            </a:r>
          </a:p>
          <a:p>
            <a:pPr lvl="1" marL="742950" indent="-285750">
              <a:spcBef>
                <a:spcPts val="600"/>
              </a:spcBef>
              <a:buSzPct val="100000"/>
              <a:buFont typeface="Arial"/>
              <a:buChar char="—"/>
              <a:defRPr sz="14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The curve peaks at the optimal threshold (marked by vertical lines), and points beyond the peak represent thresholds where missing fraud cases outweighs handling false positives.</a:t>
            </a:r>
          </a:p>
          <a:p>
            <a:pPr lvl="1" marL="742950" indent="-285750">
              <a:spcBef>
                <a:spcPts val="600"/>
              </a:spcBef>
              <a:buSzPct val="100000"/>
              <a:buFont typeface="Arial"/>
              <a:buChar char="—"/>
              <a:defRPr sz="14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This panel demonstrates that threshold selection significantly impacts fraud detection performance</a:t>
            </a:r>
          </a:p>
        </p:txBody>
      </p:sp>
      <p:sp>
        <p:nvSpPr>
          <p:cNvPr id="193" name="TextBox 15"/>
          <p:cNvSpPr txBox="1"/>
          <p:nvPr/>
        </p:nvSpPr>
        <p:spPr>
          <a:xfrm>
            <a:off x="6141720" y="4205211"/>
            <a:ext cx="6059978" cy="9746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285750" indent="-285750">
              <a:spcBef>
                <a:spcPts val="600"/>
              </a:spcBef>
              <a:buSzPct val="100000"/>
              <a:buChar char="▪"/>
              <a:defRPr sz="14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The plot</a:t>
            </a:r>
            <a:r>
              <a:rPr u="sng"/>
              <a:t> </a:t>
            </a:r>
            <a:r>
              <a:t>shows the comparison of 5 key metrics across the model </a:t>
            </a:r>
          </a:p>
          <a:p>
            <a:pPr lvl="1" marL="742950" indent="-285750">
              <a:spcBef>
                <a:spcPts val="600"/>
              </a:spcBef>
              <a:buSzPct val="100000"/>
              <a:buFont typeface="Arial"/>
              <a:buChar char="—"/>
              <a:defRPr sz="14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  Recommendation: Logistic Regression is preferred for fraud detection, accepting high false alarm burden to minimize missed fraud.</a:t>
            </a:r>
          </a:p>
        </p:txBody>
      </p:sp>
      <p:pic>
        <p:nvPicPr>
          <p:cNvPr id="194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2633" y="1079965"/>
            <a:ext cx="5284519" cy="2664314"/>
          </a:xfrm>
          <a:prstGeom prst="rect">
            <a:avLst/>
          </a:prstGeom>
          <a:ln w="12700">
            <a:miter lim="400000"/>
          </a:ln>
        </p:spPr>
      </p:pic>
      <p:pic>
        <p:nvPicPr>
          <p:cNvPr id="195" name="Picture 8" descr="Picture 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2633" y="3855239"/>
            <a:ext cx="5284519" cy="266431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TextBox 7"/>
          <p:cNvSpPr txBox="1"/>
          <p:nvPr/>
        </p:nvSpPr>
        <p:spPr>
          <a:xfrm>
            <a:off x="148353" y="167945"/>
            <a:ext cx="11674466" cy="497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2F5597"/>
                </a:solidFill>
              </a:defRPr>
            </a:lvl1pPr>
          </a:lstStyle>
          <a:p>
            <a:pPr/>
            <a:r>
              <a:t>Task 2: Metrics/Fraud Dashboard</a:t>
            </a:r>
          </a:p>
        </p:txBody>
      </p:sp>
      <p:sp>
        <p:nvSpPr>
          <p:cNvPr id="198" name="Straight Connector 1"/>
          <p:cNvSpPr/>
          <p:nvPr/>
        </p:nvSpPr>
        <p:spPr>
          <a:xfrm>
            <a:off x="9327" y="886407"/>
            <a:ext cx="12204002" cy="1"/>
          </a:xfrm>
          <a:prstGeom prst="line">
            <a:avLst/>
          </a:prstGeom>
          <a:ln w="19050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199" name="TextBox 6"/>
          <p:cNvSpPr txBox="1"/>
          <p:nvPr/>
        </p:nvSpPr>
        <p:spPr>
          <a:xfrm>
            <a:off x="7707089" y="968325"/>
            <a:ext cx="2719946" cy="333089"/>
          </a:xfrm>
          <a:prstGeom prst="rect">
            <a:avLst/>
          </a:prstGeom>
          <a:solidFill>
            <a:srgbClr val="D6DCE5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/>
            </a:lvl1pPr>
          </a:lstStyle>
          <a:p>
            <a:pPr/>
            <a:r>
              <a:t>Description</a:t>
            </a:r>
          </a:p>
        </p:txBody>
      </p:sp>
      <p:sp>
        <p:nvSpPr>
          <p:cNvPr id="200" name="Isosceles Triangle 9"/>
          <p:cNvSpPr/>
          <p:nvPr/>
        </p:nvSpPr>
        <p:spPr>
          <a:xfrm rot="5400000">
            <a:off x="5603404" y="2293291"/>
            <a:ext cx="307911" cy="284047"/>
          </a:xfrm>
          <a:prstGeom prst="triangle">
            <a:avLst/>
          </a:prstGeom>
          <a:solidFill>
            <a:schemeClr val="accent1"/>
          </a:solidFill>
          <a:ln w="12700">
            <a:solidFill>
              <a:srgbClr val="1D3053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1" name="Isosceles Triangle 10"/>
          <p:cNvSpPr/>
          <p:nvPr/>
        </p:nvSpPr>
        <p:spPr>
          <a:xfrm rot="5400000">
            <a:off x="5689607" y="4832630"/>
            <a:ext cx="307912" cy="284048"/>
          </a:xfrm>
          <a:prstGeom prst="triangle">
            <a:avLst/>
          </a:prstGeom>
          <a:solidFill>
            <a:schemeClr val="accent1"/>
          </a:solidFill>
          <a:ln w="12700">
            <a:solidFill>
              <a:srgbClr val="1D3053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2" name="TextBox 13"/>
          <p:cNvSpPr txBox="1"/>
          <p:nvPr/>
        </p:nvSpPr>
        <p:spPr>
          <a:xfrm>
            <a:off x="6092240" y="1819826"/>
            <a:ext cx="6054040" cy="14572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285750" indent="-285750">
              <a:spcBef>
                <a:spcPts val="600"/>
              </a:spcBef>
              <a:buSzPct val="100000"/>
              <a:buChar char="▪"/>
              <a:defRPr sz="14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Logistic Regression (LR) Matrix: TN=8, FP=183, FN=0, TP=9 → Catches all fraud (100% recall) but high false alarm rate.</a:t>
            </a:r>
          </a:p>
          <a:p>
            <a:pPr lvl="1" marL="742950" indent="-285750">
              <a:spcBef>
                <a:spcPts val="600"/>
              </a:spcBef>
              <a:buSzPct val="100000"/>
              <a:buFont typeface="Arial"/>
              <a:buChar char="—"/>
              <a:defRPr sz="14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LR prioritizes catching fraud (recall=1.0) at cost of many false positives.</a:t>
            </a:r>
          </a:p>
          <a:p>
            <a:pPr lvl="1" marL="742950" indent="-285750">
              <a:spcBef>
                <a:spcPts val="600"/>
              </a:spcBef>
              <a:buSzPct val="100000"/>
              <a:buFont typeface="Arial"/>
              <a:buChar char="—"/>
              <a:defRPr sz="14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LR flags 192 transactions for review (9 true fraud + 183 false alarms = 95% waste),</a:t>
            </a:r>
          </a:p>
        </p:txBody>
      </p:sp>
      <p:sp>
        <p:nvSpPr>
          <p:cNvPr id="203" name="TextBox 15"/>
          <p:cNvSpPr txBox="1"/>
          <p:nvPr/>
        </p:nvSpPr>
        <p:spPr>
          <a:xfrm>
            <a:off x="6141720" y="4205211"/>
            <a:ext cx="6059978" cy="10508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285750" indent="-285750">
              <a:spcBef>
                <a:spcPts val="600"/>
              </a:spcBef>
              <a:buSzPct val="100000"/>
              <a:buChar char="▪"/>
              <a:defRPr sz="14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Isolation Forest(IF) Matrix: TN=120, FP=71, FN=4, TP=5 → More conservative, misses 4 fraud cases but fewer false alarms. </a:t>
            </a:r>
          </a:p>
          <a:p>
            <a:pPr lvl="1" marL="742950" indent="-285750">
              <a:spcBef>
                <a:spcPts val="600"/>
              </a:spcBef>
              <a:buSzPct val="100000"/>
              <a:buFont typeface="Arial"/>
              <a:buChar char="—"/>
              <a:defRPr sz="14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Isolation Forest is more selective.</a:t>
            </a:r>
          </a:p>
          <a:p>
            <a:pPr lvl="1" marL="742950" indent="-285750">
              <a:spcBef>
                <a:spcPts val="600"/>
              </a:spcBef>
              <a:buSzPct val="100000"/>
              <a:buFont typeface="Arial"/>
              <a:buChar char="—"/>
              <a:defRPr sz="14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Isolation Forest flags 76 (5 true + 71 false = 93% waste)</a:t>
            </a:r>
          </a:p>
        </p:txBody>
      </p:sp>
      <p:pic>
        <p:nvPicPr>
          <p:cNvPr id="204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07688" y="968327"/>
            <a:ext cx="5179466" cy="2753226"/>
          </a:xfrm>
          <a:prstGeom prst="rect">
            <a:avLst/>
          </a:prstGeom>
          <a:ln w="12700">
            <a:miter lim="400000"/>
          </a:ln>
        </p:spPr>
      </p:pic>
      <p:pic>
        <p:nvPicPr>
          <p:cNvPr id="205" name="Picture 11" descr="Picture 1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07688" y="3812075"/>
            <a:ext cx="5179466" cy="284837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TextBox 7"/>
          <p:cNvSpPr txBox="1"/>
          <p:nvPr/>
        </p:nvSpPr>
        <p:spPr>
          <a:xfrm>
            <a:off x="148353" y="167945"/>
            <a:ext cx="11674466" cy="497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2F5597"/>
                </a:solidFill>
              </a:defRPr>
            </a:lvl1pPr>
          </a:lstStyle>
          <a:p>
            <a:pPr/>
            <a:r>
              <a:t>Task 2: Metrics/Fraud Dashboard</a:t>
            </a:r>
          </a:p>
        </p:txBody>
      </p:sp>
      <p:sp>
        <p:nvSpPr>
          <p:cNvPr id="208" name="Straight Connector 1"/>
          <p:cNvSpPr/>
          <p:nvPr/>
        </p:nvSpPr>
        <p:spPr>
          <a:xfrm>
            <a:off x="9327" y="886407"/>
            <a:ext cx="12204002" cy="1"/>
          </a:xfrm>
          <a:prstGeom prst="line">
            <a:avLst/>
          </a:prstGeom>
          <a:ln w="19050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209" name="TextBox 6"/>
          <p:cNvSpPr txBox="1"/>
          <p:nvPr/>
        </p:nvSpPr>
        <p:spPr>
          <a:xfrm>
            <a:off x="7707089" y="968325"/>
            <a:ext cx="2719946" cy="333089"/>
          </a:xfrm>
          <a:prstGeom prst="rect">
            <a:avLst/>
          </a:prstGeom>
          <a:solidFill>
            <a:srgbClr val="D6DCE5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/>
            </a:lvl1pPr>
          </a:lstStyle>
          <a:p>
            <a:pPr/>
            <a:r>
              <a:t>Description</a:t>
            </a:r>
          </a:p>
        </p:txBody>
      </p:sp>
      <p:sp>
        <p:nvSpPr>
          <p:cNvPr id="210" name="Isosceles Triangle 9"/>
          <p:cNvSpPr/>
          <p:nvPr/>
        </p:nvSpPr>
        <p:spPr>
          <a:xfrm rot="5400000">
            <a:off x="5973653" y="2249832"/>
            <a:ext cx="307911" cy="284047"/>
          </a:xfrm>
          <a:prstGeom prst="triangle">
            <a:avLst/>
          </a:prstGeom>
          <a:solidFill>
            <a:schemeClr val="accent1"/>
          </a:solidFill>
          <a:ln w="12700">
            <a:solidFill>
              <a:srgbClr val="1D3053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1" name="Isosceles Triangle 10"/>
          <p:cNvSpPr/>
          <p:nvPr/>
        </p:nvSpPr>
        <p:spPr>
          <a:xfrm rot="5400000">
            <a:off x="5973653" y="4891418"/>
            <a:ext cx="307911" cy="284047"/>
          </a:xfrm>
          <a:prstGeom prst="triangle">
            <a:avLst/>
          </a:prstGeom>
          <a:solidFill>
            <a:schemeClr val="accent1"/>
          </a:solidFill>
          <a:ln w="12700">
            <a:solidFill>
              <a:srgbClr val="1D3053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2" name="TextBox 13"/>
          <p:cNvSpPr txBox="1"/>
          <p:nvPr/>
        </p:nvSpPr>
        <p:spPr>
          <a:xfrm>
            <a:off x="6092240" y="1819826"/>
            <a:ext cx="6054040" cy="11778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285750" indent="-285750">
              <a:spcBef>
                <a:spcPts val="600"/>
              </a:spcBef>
              <a:buSzPct val="100000"/>
              <a:buChar char="▪"/>
              <a:defRPr sz="14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The plot</a:t>
            </a:r>
            <a:r>
              <a:rPr u="sng"/>
              <a:t> </a:t>
            </a:r>
            <a:r>
              <a:t>shows the t showing the learned importance of each feature, with blue bars increasing fraud risk and red bars decreasing it.</a:t>
            </a:r>
          </a:p>
          <a:p>
            <a:pPr lvl="1" marL="742950" indent="-285750">
              <a:spcBef>
                <a:spcPts val="600"/>
              </a:spcBef>
              <a:buSzPct val="100000"/>
              <a:buFont typeface="Arial"/>
              <a:buChar char="—"/>
              <a:defRPr sz="14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The model focuses on transaction-level anomalies (amount, velocity, timing) rather than customer attributes, making it interpretable and deployable in real-time systems.</a:t>
            </a:r>
          </a:p>
        </p:txBody>
      </p:sp>
      <p:sp>
        <p:nvSpPr>
          <p:cNvPr id="213" name="TextBox 15"/>
          <p:cNvSpPr txBox="1"/>
          <p:nvPr/>
        </p:nvSpPr>
        <p:spPr>
          <a:xfrm>
            <a:off x="6141720" y="4205211"/>
            <a:ext cx="6059978" cy="11270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285750" indent="-285750">
              <a:spcBef>
                <a:spcPts val="600"/>
              </a:spcBef>
              <a:buSzPct val="100000"/>
              <a:buChar char="▪"/>
              <a:defRPr sz="14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Text-based KPI dashboard organizing results into actionable sections:</a:t>
            </a:r>
          </a:p>
          <a:p>
            <a:pPr lvl="1" marL="742950" indent="-285750">
              <a:spcBef>
                <a:spcPts val="600"/>
              </a:spcBef>
              <a:buSzPct val="100000"/>
              <a:buFont typeface="Arial"/>
              <a:buChar char="—"/>
              <a:defRPr sz="14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Portfolio Overview:</a:t>
            </a:r>
          </a:p>
          <a:p>
            <a:pPr lvl="1" marL="742950" indent="-285750">
              <a:spcBef>
                <a:spcPts val="600"/>
              </a:spcBef>
              <a:buSzPct val="100000"/>
              <a:buFont typeface="Arial"/>
              <a:buChar char="—"/>
              <a:defRPr sz="14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Total Transactions: 200 transactions analyzed.</a:t>
            </a:r>
          </a:p>
          <a:p>
            <a:pPr lvl="1" marL="742950" indent="-285750">
              <a:spcBef>
                <a:spcPts val="600"/>
              </a:spcBef>
              <a:buSzPct val="100000"/>
              <a:buFont typeface="Arial"/>
              <a:buChar char="—"/>
              <a:defRPr sz="14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Actual Fraud: 9 ground-truth fraudulent cases.</a:t>
            </a:r>
          </a:p>
        </p:txBody>
      </p:sp>
      <p:pic>
        <p:nvPicPr>
          <p:cNvPr id="214" name="Picture 11" descr="Picture 1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7997" y="1020094"/>
            <a:ext cx="5746538" cy="2701452"/>
          </a:xfrm>
          <a:prstGeom prst="rect">
            <a:avLst/>
          </a:prstGeom>
          <a:ln w="12700">
            <a:miter lim="400000"/>
          </a:ln>
        </p:spPr>
      </p:pic>
      <p:pic>
        <p:nvPicPr>
          <p:cNvPr id="215" name="Picture 14" descr="Picture 1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96882" y="3964432"/>
            <a:ext cx="5557653" cy="270547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TextBox 7"/>
          <p:cNvSpPr txBox="1"/>
          <p:nvPr/>
        </p:nvSpPr>
        <p:spPr>
          <a:xfrm>
            <a:off x="148353" y="167945"/>
            <a:ext cx="11674466" cy="497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2F5597"/>
                </a:solidFill>
              </a:defRPr>
            </a:lvl1pPr>
          </a:lstStyle>
          <a:p>
            <a:pPr/>
            <a:r>
              <a:t>Task 3: Loan Approval &amp; Monitoring Strategy Approach </a:t>
            </a:r>
          </a:p>
        </p:txBody>
      </p:sp>
      <p:sp>
        <p:nvSpPr>
          <p:cNvPr id="218" name="Straight Connector 1"/>
          <p:cNvSpPr/>
          <p:nvPr/>
        </p:nvSpPr>
        <p:spPr>
          <a:xfrm>
            <a:off x="9327" y="886407"/>
            <a:ext cx="12204002" cy="1"/>
          </a:xfrm>
          <a:prstGeom prst="line">
            <a:avLst/>
          </a:prstGeom>
          <a:ln w="19050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219" name="TextBox 2"/>
          <p:cNvSpPr txBox="1"/>
          <p:nvPr/>
        </p:nvSpPr>
        <p:spPr>
          <a:xfrm>
            <a:off x="111029" y="886407"/>
            <a:ext cx="11763904" cy="56990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342900" indent="-342900">
              <a:buSzPct val="100000"/>
              <a:buAutoNum type="arabicPeriod" startAt="1"/>
              <a:defRPr b="1" sz="1400">
                <a:latin typeface="Arial"/>
                <a:ea typeface="Arial"/>
                <a:cs typeface="Arial"/>
                <a:sym typeface="Arial"/>
              </a:defRPr>
            </a:pPr>
            <a:r>
              <a:t>Load &amp; Prepare Data</a:t>
            </a:r>
          </a:p>
          <a:p>
            <a:pPr lvl="1" marL="628650" indent="-171450">
              <a:spcBef>
                <a:spcPts val="600"/>
              </a:spcBef>
              <a:buSzPct val="100000"/>
              <a:buFont typeface="Arial"/>
              <a:buChar char="—"/>
              <a:defRPr sz="14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 Load loan portfolio (loan_portfolio.csv) and transaction data (transactions.csv)</a:t>
            </a:r>
            <a:endParaRPr sz="1200"/>
          </a:p>
          <a:p>
            <a:pPr lvl="1" marL="742950" indent="-285750">
              <a:spcBef>
                <a:spcPts val="600"/>
              </a:spcBef>
              <a:buSzPct val="100000"/>
              <a:buFont typeface="Arial"/>
              <a:buChar char="—"/>
              <a:defRPr sz="1400">
                <a:latin typeface="Arial"/>
                <a:ea typeface="Arial"/>
                <a:cs typeface="Arial"/>
                <a:sym typeface="Arial"/>
              </a:defRPr>
            </a:pPr>
            <a:r>
              <a:t>Feature engineering: Loan_to_Income ratio, Customer_Type encoding</a:t>
            </a:r>
          </a:p>
          <a:p>
            <a:pPr marL="342900" indent="-342900">
              <a:buSzPct val="100000"/>
              <a:buAutoNum type="arabicPeriod" startAt="1"/>
              <a:defRPr b="1" sz="1400">
                <a:latin typeface="Arial"/>
                <a:ea typeface="Arial"/>
                <a:cs typeface="Arial"/>
                <a:sym typeface="Arial"/>
              </a:defRPr>
            </a:pPr>
            <a:r>
              <a:t>Execute Task 1 Pipeline</a:t>
            </a:r>
            <a:r>
              <a:rPr b="0"/>
              <a:t> (PD Prediction &amp; Risk Classification)</a:t>
            </a:r>
            <a:endParaRPr b="0"/>
          </a:p>
          <a:p>
            <a:pPr marL="342900" indent="-342900">
              <a:buSzPct val="100000"/>
              <a:buAutoNum type="arabicPeriod" startAt="1"/>
              <a:defRPr b="1" sz="1400">
                <a:latin typeface="Arial"/>
                <a:ea typeface="Arial"/>
                <a:cs typeface="Arial"/>
                <a:sym typeface="Arial"/>
              </a:defRPr>
            </a:pPr>
            <a:r>
              <a:t>Execute Task 2 Pipeline</a:t>
            </a:r>
            <a:r>
              <a:rPr b="0"/>
              <a:t> (Fraud Detection)</a:t>
            </a:r>
            <a:endParaRPr b="0"/>
          </a:p>
          <a:p>
            <a:pPr marL="342900" indent="-342900">
              <a:buSzPct val="100000"/>
              <a:buAutoNum type="arabicPeriod" startAt="1"/>
              <a:defRPr b="1" sz="1400">
                <a:latin typeface="Arial"/>
                <a:ea typeface="Arial"/>
                <a:cs typeface="Arial"/>
                <a:sym typeface="Arial"/>
              </a:defRPr>
            </a:pPr>
            <a:r>
              <a:t>Lending Decision Logic</a:t>
            </a:r>
            <a:r>
              <a:rPr b="0"/>
              <a:t> (3-Tier Framework)</a:t>
            </a:r>
            <a:endParaRPr b="0"/>
          </a:p>
          <a:p>
            <a:pPr lvl="1" marL="742950" indent="-285750">
              <a:spcBef>
                <a:spcPts val="600"/>
              </a:spcBef>
              <a:buSzPct val="100000"/>
              <a:buFont typeface="Arial"/>
              <a:buChar char="—"/>
              <a:defRPr sz="1400">
                <a:latin typeface="Arial"/>
                <a:ea typeface="Arial"/>
                <a:cs typeface="Arial"/>
                <a:sym typeface="Arial"/>
              </a:defRPr>
            </a:pPr>
            <a:r>
              <a:t>Fraud Override: If Has_Fraud = 1 → REJECT (Fraud Alert)</a:t>
            </a:r>
          </a:p>
          <a:p>
            <a:pPr lvl="1" marL="742950" indent="-285750">
              <a:spcBef>
                <a:spcPts val="600"/>
              </a:spcBef>
              <a:buSzPct val="100000"/>
              <a:buFont typeface="Arial"/>
              <a:buChar char="—"/>
              <a:defRPr sz="1400">
                <a:latin typeface="Arial"/>
                <a:ea typeface="Arial"/>
                <a:cs typeface="Arial"/>
                <a:sym typeface="Arial"/>
              </a:defRPr>
            </a:pPr>
            <a:r>
              <a:t>Low Risk: Always APPROVE</a:t>
            </a:r>
          </a:p>
          <a:p>
            <a:pPr lvl="1" marL="742950" indent="-285750">
              <a:spcBef>
                <a:spcPts val="600"/>
              </a:spcBef>
              <a:buSzPct val="100000"/>
              <a:buFont typeface="Arial"/>
              <a:buChar char="—"/>
              <a:defRPr sz="1400">
                <a:latin typeface="Arial"/>
                <a:ea typeface="Arial"/>
                <a:cs typeface="Arial"/>
                <a:sym typeface="Arial"/>
              </a:defRPr>
            </a:pPr>
            <a:r>
              <a:t>Medium Risk: CONDITIONAL if Prior_Default = 1, else APPROVE (Standard Monitoring)</a:t>
            </a:r>
          </a:p>
          <a:p>
            <a:pPr lvl="1" marL="742950" indent="-285750">
              <a:spcBef>
                <a:spcPts val="600"/>
              </a:spcBef>
              <a:buSzPct val="100000"/>
              <a:buFont typeface="Arial"/>
              <a:buChar char="—"/>
              <a:defRPr sz="1400">
                <a:latin typeface="Arial"/>
                <a:ea typeface="Arial"/>
                <a:cs typeface="Arial"/>
                <a:sym typeface="Arial"/>
              </a:defRPr>
            </a:pPr>
            <a:r>
              <a:t>High Risk: REJECT if Prior_Default = 1, else REJECT (High Risk)</a:t>
            </a:r>
          </a:p>
          <a:p>
            <a:pPr marL="342900" indent="-342900">
              <a:buSzPct val="100000"/>
              <a:buAutoNum type="arabicPeriod" startAt="1"/>
              <a:defRPr b="1" sz="1400">
                <a:latin typeface="Arial"/>
                <a:ea typeface="Arial"/>
                <a:cs typeface="Arial"/>
                <a:sym typeface="Arial"/>
              </a:defRPr>
            </a:pPr>
            <a:r>
              <a:t>Calculate Monitoring Strategy</a:t>
            </a:r>
          </a:p>
          <a:p>
            <a:pPr lvl="1" marL="628650" indent="-171450">
              <a:spcBef>
                <a:spcPts val="600"/>
              </a:spcBef>
              <a:buSzPct val="100000"/>
              <a:buFont typeface="Arial"/>
              <a:buChar char="—"/>
              <a:defRPr sz="14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 Map decisions to operational protocols</a:t>
            </a:r>
            <a:endParaRPr sz="1200"/>
          </a:p>
          <a:p>
            <a:pPr lvl="1" marL="628650" indent="-171450">
              <a:spcBef>
                <a:spcPts val="600"/>
              </a:spcBef>
              <a:buSzPct val="100000"/>
              <a:buFont typeface="Arial"/>
              <a:buChar char="—"/>
              <a:defRPr sz="14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 Define review frequency, collateral requirements, escalation rules</a:t>
            </a:r>
            <a:endParaRPr sz="1200"/>
          </a:p>
          <a:p>
            <a:pPr lvl="1" marL="628650" indent="-171450">
              <a:spcBef>
                <a:spcPts val="600"/>
              </a:spcBef>
              <a:buSzPct val="100000"/>
              <a:buFont typeface="Arial"/>
              <a:buChar char="—"/>
              <a:defRPr sz="14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  Annual review. Standard loan covenants. No additional requirements.</a:t>
            </a:r>
            <a:endParaRPr sz="1200"/>
          </a:p>
          <a:p>
            <a:pPr lvl="1" marL="628650" indent="-171450">
              <a:spcBef>
                <a:spcPts val="600"/>
              </a:spcBef>
              <a:buSzPct val="100000"/>
              <a:buFont typeface="Arial"/>
              <a:buChar char="—"/>
              <a:defRPr sz="14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 Quarterly review. Compliance checks. Flag DebtToIncome or Interest Ratio breaches.</a:t>
            </a:r>
            <a:endParaRPr sz="1200"/>
          </a:p>
          <a:p>
            <a:pPr lvl="1" marL="628650" indent="-171450">
              <a:spcBef>
                <a:spcPts val="600"/>
              </a:spcBef>
              <a:buSzPct val="100000"/>
              <a:buFont typeface="Arial"/>
              <a:buChar char="—"/>
              <a:defRPr sz="14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 Monthly review. Collateral required. Rate +1.5–2%. Loan officer sign-off.</a:t>
            </a:r>
          </a:p>
          <a:p>
            <a:pPr marL="342900" indent="-342900">
              <a:buSzPct val="100000"/>
              <a:buAutoNum type="arabicPeriod" startAt="1"/>
              <a:defRPr b="1" sz="1400">
                <a:latin typeface="Arial"/>
                <a:ea typeface="Arial"/>
                <a:cs typeface="Arial"/>
                <a:sym typeface="Arial"/>
              </a:defRPr>
            </a:pPr>
            <a:r>
              <a:t>Interest Rate Adjustment</a:t>
            </a:r>
          </a:p>
          <a:p>
            <a:pPr lvl="1" marL="628650" indent="-171450">
              <a:spcBef>
                <a:spcPts val="600"/>
              </a:spcBef>
              <a:buSzPct val="100000"/>
              <a:buFont typeface="Arial"/>
              <a:buChar char="—"/>
              <a:defRPr sz="14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 Low risk: +0.0% | Medium risk (no prior default): +0.5% |  Conditional (Medium + prior default): +1.75% |  Rejections: N/A</a:t>
            </a:r>
            <a:endParaRPr sz="1200"/>
          </a:p>
          <a:p>
            <a:pPr marL="342900" indent="-342900">
              <a:buSzPct val="100000"/>
              <a:buAutoNum type="arabicPeriod" startAt="1"/>
              <a:defRPr b="1" sz="1400">
                <a:latin typeface="Arial"/>
                <a:ea typeface="Arial"/>
                <a:cs typeface="Arial"/>
                <a:sym typeface="Arial"/>
              </a:defRPr>
            </a:pPr>
            <a:r>
              <a:t>Portfolio Summary</a:t>
            </a:r>
          </a:p>
          <a:p>
            <a:pPr lvl="1" marL="628650" indent="-171450">
              <a:spcBef>
                <a:spcPts val="600"/>
              </a:spcBef>
              <a:buSzPct val="100000"/>
              <a:buFont typeface="Arial"/>
              <a:buChar char="—"/>
              <a:defRPr sz="14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 Count decisions by tier (APPROVE, CONDITIONAL, REJECT)</a:t>
            </a:r>
            <a:endParaRPr sz="1200"/>
          </a:p>
          <a:p>
            <a:pPr lvl="1" marL="628650" indent="-171450">
              <a:spcBef>
                <a:spcPts val="600"/>
              </a:spcBef>
              <a:buSzPct val="100000"/>
              <a:buFont typeface="Arial"/>
              <a:buChar char="—"/>
              <a:defRPr sz="14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 Calculate total exposure ($ at risk) per tier</a:t>
            </a:r>
            <a:endParaRPr sz="1200"/>
          </a:p>
          <a:p>
            <a:pPr lvl="1" marL="628650" indent="-171450">
              <a:spcBef>
                <a:spcPts val="600"/>
              </a:spcBef>
              <a:buSzPct val="100000"/>
              <a:buFont typeface="Arial"/>
              <a:buChar char="—"/>
              <a:defRPr sz="14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 Cross-tabulate Risk Category × Lending Decision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3" name="Rectangle 1"/>
          <p:cNvGrpSpPr/>
          <p:nvPr/>
        </p:nvGrpSpPr>
        <p:grpSpPr>
          <a:xfrm>
            <a:off x="1524000" y="-1"/>
            <a:ext cx="9144000" cy="731522"/>
            <a:chOff x="0" y="0"/>
            <a:chExt cx="9144000" cy="731520"/>
          </a:xfrm>
        </p:grpSpPr>
        <p:sp>
          <p:nvSpPr>
            <p:cNvPr id="221" name="Rectangle"/>
            <p:cNvSpPr/>
            <p:nvPr/>
          </p:nvSpPr>
          <p:spPr>
            <a:xfrm>
              <a:off x="0" y="-1"/>
              <a:ext cx="9144000" cy="731522"/>
            </a:xfrm>
            <a:prstGeom prst="rect">
              <a:avLst/>
            </a:prstGeom>
            <a:solidFill>
              <a:srgbClr val="1F4E79"/>
            </a:solidFill>
            <a:ln w="635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b="1" sz="28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22" name="Task 3: Loan Approval &amp; Monitoring Dashboard"/>
            <p:cNvSpPr txBox="1"/>
            <p:nvPr/>
          </p:nvSpPr>
          <p:spPr>
            <a:xfrm>
              <a:off x="231775" y="143381"/>
              <a:ext cx="8863331" cy="4447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>
                <a:defRPr b="1" sz="2800">
                  <a:solidFill>
                    <a:srgbClr val="FFFFFF"/>
                  </a:solidFill>
                </a:defRPr>
              </a:lvl1pPr>
            </a:lstStyle>
            <a:p>
              <a:pPr/>
              <a:r>
                <a:t>Task 3: Loan Approval &amp; Monitoring Dashboard</a:t>
              </a:r>
            </a:p>
          </p:txBody>
        </p:sp>
      </p:grpSp>
      <p:pic>
        <p:nvPicPr>
          <p:cNvPr id="224" name="Picture 6" descr="Picture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66253" y="731522"/>
            <a:ext cx="5213269" cy="3009207"/>
          </a:xfrm>
          <a:prstGeom prst="rect">
            <a:avLst/>
          </a:prstGeom>
          <a:ln w="12700">
            <a:miter lim="400000"/>
          </a:ln>
        </p:spPr>
      </p:pic>
      <p:pic>
        <p:nvPicPr>
          <p:cNvPr id="225" name="Picture 8" descr="Picture 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66253" y="3966359"/>
            <a:ext cx="5213267" cy="2743201"/>
          </a:xfrm>
          <a:prstGeom prst="rect">
            <a:avLst/>
          </a:prstGeom>
          <a:ln w="12700">
            <a:miter lim="400000"/>
          </a:ln>
        </p:spPr>
      </p:pic>
      <p:sp>
        <p:nvSpPr>
          <p:cNvPr id="226" name="Isosceles Triangle 11"/>
          <p:cNvSpPr/>
          <p:nvPr/>
        </p:nvSpPr>
        <p:spPr>
          <a:xfrm rot="5400000">
            <a:off x="5942044" y="2293291"/>
            <a:ext cx="307912" cy="284047"/>
          </a:xfrm>
          <a:prstGeom prst="triangle">
            <a:avLst/>
          </a:prstGeom>
          <a:solidFill>
            <a:schemeClr val="accent1"/>
          </a:solidFill>
          <a:ln w="12700">
            <a:solidFill>
              <a:srgbClr val="1D3053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7" name="Isosceles Triangle 12"/>
          <p:cNvSpPr/>
          <p:nvPr/>
        </p:nvSpPr>
        <p:spPr>
          <a:xfrm rot="5400000">
            <a:off x="5942044" y="5089929"/>
            <a:ext cx="307912" cy="284046"/>
          </a:xfrm>
          <a:prstGeom prst="triangle">
            <a:avLst/>
          </a:prstGeom>
          <a:solidFill>
            <a:schemeClr val="accent1"/>
          </a:solidFill>
          <a:ln w="12700">
            <a:solidFill>
              <a:srgbClr val="1D3053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8" name="TextBox 14"/>
          <p:cNvSpPr txBox="1"/>
          <p:nvPr/>
        </p:nvSpPr>
        <p:spPr>
          <a:xfrm>
            <a:off x="7707089" y="968325"/>
            <a:ext cx="2719946" cy="333089"/>
          </a:xfrm>
          <a:prstGeom prst="rect">
            <a:avLst/>
          </a:prstGeom>
          <a:solidFill>
            <a:srgbClr val="D6DCE5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/>
            </a:lvl1pPr>
          </a:lstStyle>
          <a:p>
            <a:pPr/>
            <a:r>
              <a:t>Description</a:t>
            </a:r>
          </a:p>
        </p:txBody>
      </p:sp>
      <p:sp>
        <p:nvSpPr>
          <p:cNvPr id="229" name="TextBox 16"/>
          <p:cNvSpPr txBox="1"/>
          <p:nvPr/>
        </p:nvSpPr>
        <p:spPr>
          <a:xfrm>
            <a:off x="6283742" y="1812065"/>
            <a:ext cx="5862538" cy="21430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285750" indent="-285750">
              <a:spcBef>
                <a:spcPts val="600"/>
              </a:spcBef>
              <a:buSzPct val="100000"/>
              <a:buChar char="▪"/>
              <a:defRPr sz="14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The plot</a:t>
            </a:r>
            <a:r>
              <a:rPr u="sng"/>
              <a:t>  </a:t>
            </a:r>
            <a:r>
              <a:t>shows the distribution of loans across decision tiers. Each bar represents a lending decision category (APPROVE, APPROVE — Standard Monitoring, CONDITIONAL — Enhanced Monitoring, REJECT variants) with color-coded segments..</a:t>
            </a:r>
          </a:p>
          <a:p>
            <a:pPr lvl="1" marL="742950" indent="-285750">
              <a:spcBef>
                <a:spcPts val="600"/>
              </a:spcBef>
              <a:buSzPct val="100000"/>
              <a:buFont typeface="Arial"/>
              <a:buChar char="—"/>
              <a:defRPr sz="14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The numerical labels at the bar ends show exact loan counts.</a:t>
            </a:r>
          </a:p>
          <a:p>
            <a:pPr lvl="1" marL="742950" indent="-285750">
              <a:spcBef>
                <a:spcPts val="600"/>
              </a:spcBef>
              <a:buSzPct val="100000"/>
              <a:buFont typeface="Arial"/>
              <a:buChar char="—"/>
              <a:defRPr sz="14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 This visualization provides immediate portfolio-level overview of approval rates vs. rejection rates, enabling quick assessment of lending strategy effectiveness.</a:t>
            </a:r>
          </a:p>
        </p:txBody>
      </p:sp>
      <p:sp>
        <p:nvSpPr>
          <p:cNvPr id="230" name="TextBox 17"/>
          <p:cNvSpPr txBox="1"/>
          <p:nvPr/>
        </p:nvSpPr>
        <p:spPr>
          <a:xfrm>
            <a:off x="6283742" y="4139107"/>
            <a:ext cx="5862538" cy="15842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marL="285750" indent="-285750">
              <a:spcBef>
                <a:spcPts val="600"/>
              </a:spcBef>
              <a:buSzPct val="100000"/>
              <a:buChar char="▪"/>
              <a:defRPr sz="14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742950" indent="-285750">
              <a:spcBef>
                <a:spcPts val="600"/>
              </a:spcBef>
              <a:buSzPct val="100000"/>
              <a:buFont typeface="Arial"/>
              <a:buChar char="—"/>
              <a:defRPr sz="14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2pPr>
          </a:lstStyle>
          <a:p>
            <a:pPr/>
            <a:r>
              <a:t>The plot  aggregating total loan amounts ($M) across the three decision tiers: Approved, Conditional, and Rejected. Each bar is color-coded (green=approved, amber=conditional, red=rejected) with monetary values displayed on top.</a:t>
            </a:r>
          </a:p>
          <a:p>
            <a:pPr lvl="1"/>
            <a:r>
              <a:t> This graph reveals portfolio risk concentration—comparing approved exposure vs. rejected exposure shows how much capital is at stake under each decision category.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4" name="Rectangle 1"/>
          <p:cNvGrpSpPr/>
          <p:nvPr/>
        </p:nvGrpSpPr>
        <p:grpSpPr>
          <a:xfrm>
            <a:off x="1524000" y="-1"/>
            <a:ext cx="9144000" cy="731522"/>
            <a:chOff x="0" y="0"/>
            <a:chExt cx="9144000" cy="731520"/>
          </a:xfrm>
        </p:grpSpPr>
        <p:sp>
          <p:nvSpPr>
            <p:cNvPr id="232" name="Rectangle"/>
            <p:cNvSpPr/>
            <p:nvPr/>
          </p:nvSpPr>
          <p:spPr>
            <a:xfrm>
              <a:off x="0" y="-1"/>
              <a:ext cx="9144000" cy="731522"/>
            </a:xfrm>
            <a:prstGeom prst="rect">
              <a:avLst/>
            </a:prstGeom>
            <a:solidFill>
              <a:srgbClr val="1F4E79"/>
            </a:solidFill>
            <a:ln w="635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b="1" sz="28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33" name="Task 3: Loan Approval &amp; Monitoring Dashboard"/>
            <p:cNvSpPr txBox="1"/>
            <p:nvPr/>
          </p:nvSpPr>
          <p:spPr>
            <a:xfrm>
              <a:off x="231775" y="143381"/>
              <a:ext cx="8863331" cy="4447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>
                <a:defRPr b="1" sz="2800">
                  <a:solidFill>
                    <a:srgbClr val="FFFFFF"/>
                  </a:solidFill>
                </a:defRPr>
              </a:lvl1pPr>
            </a:lstStyle>
            <a:p>
              <a:pPr/>
              <a:r>
                <a:t>Task 3: Loan Approval &amp; Monitoring Dashboard</a:t>
              </a:r>
            </a:p>
          </p:txBody>
        </p:sp>
      </p:grpSp>
      <p:sp>
        <p:nvSpPr>
          <p:cNvPr id="235" name="Isosceles Triangle 11"/>
          <p:cNvSpPr/>
          <p:nvPr/>
        </p:nvSpPr>
        <p:spPr>
          <a:xfrm rot="5400000">
            <a:off x="5942044" y="2293291"/>
            <a:ext cx="307912" cy="284047"/>
          </a:xfrm>
          <a:prstGeom prst="triangle">
            <a:avLst/>
          </a:prstGeom>
          <a:solidFill>
            <a:schemeClr val="accent1"/>
          </a:solidFill>
          <a:ln w="12700">
            <a:solidFill>
              <a:srgbClr val="1D3053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6" name="Isosceles Triangle 12"/>
          <p:cNvSpPr/>
          <p:nvPr/>
        </p:nvSpPr>
        <p:spPr>
          <a:xfrm rot="5400000">
            <a:off x="5942044" y="5089929"/>
            <a:ext cx="307912" cy="284046"/>
          </a:xfrm>
          <a:prstGeom prst="triangle">
            <a:avLst/>
          </a:prstGeom>
          <a:solidFill>
            <a:schemeClr val="accent1"/>
          </a:solidFill>
          <a:ln w="12700">
            <a:solidFill>
              <a:srgbClr val="1D3053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7" name="TextBox 14"/>
          <p:cNvSpPr txBox="1"/>
          <p:nvPr/>
        </p:nvSpPr>
        <p:spPr>
          <a:xfrm>
            <a:off x="7707089" y="968325"/>
            <a:ext cx="2719946" cy="333089"/>
          </a:xfrm>
          <a:prstGeom prst="rect">
            <a:avLst/>
          </a:prstGeom>
          <a:solidFill>
            <a:srgbClr val="D6DCE5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/>
            </a:lvl1pPr>
          </a:lstStyle>
          <a:p>
            <a:pPr/>
            <a:r>
              <a:t>Description</a:t>
            </a:r>
          </a:p>
        </p:txBody>
      </p:sp>
      <p:sp>
        <p:nvSpPr>
          <p:cNvPr id="238" name="TextBox 16"/>
          <p:cNvSpPr txBox="1"/>
          <p:nvPr/>
        </p:nvSpPr>
        <p:spPr>
          <a:xfrm>
            <a:off x="6283742" y="1812065"/>
            <a:ext cx="5862538" cy="20668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285750" indent="-285750">
              <a:spcBef>
                <a:spcPts val="600"/>
              </a:spcBef>
              <a:buSzPct val="100000"/>
              <a:buChar char="▪"/>
              <a:defRPr sz="14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Box-and-whisker plot comparing risk score distributions across three decision groups (Approved, Conditional, Rejected). Each box shows the interquartile range (25th–75th percentile), with the white line inside indicating median risk score..</a:t>
            </a:r>
          </a:p>
          <a:p>
            <a:pPr lvl="1" marL="742950" indent="-285750">
              <a:spcBef>
                <a:spcPts val="600"/>
              </a:spcBef>
              <a:buSzPct val="100000"/>
              <a:buFont typeface="Arial"/>
              <a:buChar char="—"/>
              <a:defRPr sz="14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This visualization reveals whether the decision logic successfully separates risk tiers: </a:t>
            </a:r>
          </a:p>
          <a:p>
            <a:pPr lvl="1" marL="742950" indent="-285750">
              <a:spcBef>
                <a:spcPts val="600"/>
              </a:spcBef>
              <a:buSzPct val="100000"/>
              <a:buFont typeface="Arial"/>
              <a:buChar char="—"/>
              <a:defRPr sz="14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Approved loans should have lowest median risk scores, Conditional should be intermediate, and Rejected should be highest.</a:t>
            </a:r>
          </a:p>
        </p:txBody>
      </p:sp>
      <p:sp>
        <p:nvSpPr>
          <p:cNvPr id="239" name="TextBox 17"/>
          <p:cNvSpPr txBox="1"/>
          <p:nvPr/>
        </p:nvSpPr>
        <p:spPr>
          <a:xfrm>
            <a:off x="6283743" y="4139107"/>
            <a:ext cx="5696284" cy="22700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285750" indent="-285750">
              <a:spcBef>
                <a:spcPts val="600"/>
              </a:spcBef>
              <a:buSzPct val="100000"/>
              <a:buChar char="▪"/>
              <a:defRPr sz="14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Overlaid histogram showing probability-of-default (PD) distributions separated by risk category (Low=green, Medium=amber, High=red). Vertical dashed lines mark PD thresholds (0.08 and 0.20) used in the risk scoring logic.</a:t>
            </a:r>
          </a:p>
          <a:p>
            <a:pPr lvl="1" marL="742950" indent="-285750">
              <a:spcBef>
                <a:spcPts val="600"/>
              </a:spcBef>
              <a:buSzPct val="100000"/>
              <a:buFont typeface="Arial"/>
              <a:buChar char="—"/>
              <a:defRPr sz="14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This visualization validates that the risk classification model successfully stratified borrowers by predicted default likelihood.</a:t>
            </a:r>
          </a:p>
          <a:p>
            <a:pPr lvl="1" marL="742950" indent="-285750">
              <a:spcBef>
                <a:spcPts val="600"/>
              </a:spcBef>
              <a:buSzPct val="100000"/>
              <a:buFont typeface="Arial"/>
              <a:buChar char="—"/>
              <a:defRPr sz="14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 Clear separation between clusters indicates strong discrimination; overlap suggests model boundary cases requiring manual review..</a:t>
            </a:r>
          </a:p>
        </p:txBody>
      </p:sp>
      <p:pic>
        <p:nvPicPr>
          <p:cNvPr id="240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66253" y="952435"/>
            <a:ext cx="4975763" cy="2657847"/>
          </a:xfrm>
          <a:prstGeom prst="rect">
            <a:avLst/>
          </a:prstGeom>
          <a:ln w="12700">
            <a:miter lim="400000"/>
          </a:ln>
        </p:spPr>
      </p:pic>
      <p:pic>
        <p:nvPicPr>
          <p:cNvPr id="241" name="Picture 5" descr="Picture 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66253" y="3888738"/>
            <a:ext cx="5058890" cy="268642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5" name="Rectangle 1"/>
          <p:cNvGrpSpPr/>
          <p:nvPr/>
        </p:nvGrpSpPr>
        <p:grpSpPr>
          <a:xfrm>
            <a:off x="1524000" y="-1"/>
            <a:ext cx="9144000" cy="731522"/>
            <a:chOff x="0" y="0"/>
            <a:chExt cx="9144000" cy="731520"/>
          </a:xfrm>
        </p:grpSpPr>
        <p:sp>
          <p:nvSpPr>
            <p:cNvPr id="243" name="Rectangle"/>
            <p:cNvSpPr/>
            <p:nvPr/>
          </p:nvSpPr>
          <p:spPr>
            <a:xfrm>
              <a:off x="0" y="-1"/>
              <a:ext cx="9144000" cy="731522"/>
            </a:xfrm>
            <a:prstGeom prst="rect">
              <a:avLst/>
            </a:prstGeom>
            <a:solidFill>
              <a:srgbClr val="1F4E79"/>
            </a:solidFill>
            <a:ln w="635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b="1" sz="28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44" name="Task 3: Loan Approval &amp; Monitoring Dashboard"/>
            <p:cNvSpPr txBox="1"/>
            <p:nvPr/>
          </p:nvSpPr>
          <p:spPr>
            <a:xfrm>
              <a:off x="231775" y="143381"/>
              <a:ext cx="8863331" cy="4447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>
                <a:defRPr b="1" sz="2800">
                  <a:solidFill>
                    <a:srgbClr val="FFFFFF"/>
                  </a:solidFill>
                </a:defRPr>
              </a:lvl1pPr>
            </a:lstStyle>
            <a:p>
              <a:pPr/>
              <a:r>
                <a:t>Task 3: Loan Approval &amp; Monitoring Dashboard</a:t>
              </a:r>
            </a:p>
          </p:txBody>
        </p:sp>
      </p:grpSp>
      <p:sp>
        <p:nvSpPr>
          <p:cNvPr id="246" name="Isosceles Triangle 11"/>
          <p:cNvSpPr/>
          <p:nvPr/>
        </p:nvSpPr>
        <p:spPr>
          <a:xfrm rot="5400000">
            <a:off x="5942044" y="2293291"/>
            <a:ext cx="307912" cy="284047"/>
          </a:xfrm>
          <a:prstGeom prst="triangle">
            <a:avLst/>
          </a:prstGeom>
          <a:solidFill>
            <a:schemeClr val="accent1"/>
          </a:solidFill>
          <a:ln w="12700">
            <a:solidFill>
              <a:srgbClr val="1D3053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7" name="Isosceles Triangle 12"/>
          <p:cNvSpPr/>
          <p:nvPr/>
        </p:nvSpPr>
        <p:spPr>
          <a:xfrm rot="5400000">
            <a:off x="5942044" y="5089929"/>
            <a:ext cx="307912" cy="284046"/>
          </a:xfrm>
          <a:prstGeom prst="triangle">
            <a:avLst/>
          </a:prstGeom>
          <a:solidFill>
            <a:schemeClr val="accent1"/>
          </a:solidFill>
          <a:ln w="12700">
            <a:solidFill>
              <a:srgbClr val="1D3053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8" name="TextBox 14"/>
          <p:cNvSpPr txBox="1"/>
          <p:nvPr/>
        </p:nvSpPr>
        <p:spPr>
          <a:xfrm>
            <a:off x="7707089" y="968325"/>
            <a:ext cx="2719946" cy="333089"/>
          </a:xfrm>
          <a:prstGeom prst="rect">
            <a:avLst/>
          </a:prstGeom>
          <a:solidFill>
            <a:srgbClr val="D6DCE5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/>
            </a:lvl1pPr>
          </a:lstStyle>
          <a:p>
            <a:pPr/>
            <a:r>
              <a:t>Description</a:t>
            </a:r>
          </a:p>
        </p:txBody>
      </p:sp>
      <p:sp>
        <p:nvSpPr>
          <p:cNvPr id="249" name="TextBox 16"/>
          <p:cNvSpPr txBox="1"/>
          <p:nvPr/>
        </p:nvSpPr>
        <p:spPr>
          <a:xfrm>
            <a:off x="6283743" y="1812065"/>
            <a:ext cx="6054040" cy="16604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285750" indent="-285750">
              <a:spcBef>
                <a:spcPts val="600"/>
              </a:spcBef>
              <a:buSzPct val="100000"/>
              <a:buChar char="▪"/>
              <a:defRPr sz="14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Grouped bar chart comparing risk distribution across customer types (Corporate vs. Retail). Three colored bars per customer type represent Low, Medium, and High risk categories.</a:t>
            </a:r>
          </a:p>
          <a:p>
            <a:pPr lvl="1" marL="742950" indent="-285750">
              <a:spcBef>
                <a:spcPts val="600"/>
              </a:spcBef>
              <a:buSzPct val="100000"/>
              <a:buFont typeface="Arial"/>
              <a:buChar char="—"/>
              <a:defRPr sz="14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This graph reveals whether lending risk patterns differ by customer segment: </a:t>
            </a:r>
          </a:p>
          <a:p>
            <a:pPr lvl="1" marL="742950" indent="-285750">
              <a:spcBef>
                <a:spcPts val="600"/>
              </a:spcBef>
              <a:buSzPct val="100000"/>
              <a:buFont typeface="Arial"/>
              <a:buChar char="—"/>
              <a:defRPr sz="14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 Useful for portfolio management and targeted risk mitigation strategies</a:t>
            </a:r>
          </a:p>
        </p:txBody>
      </p:sp>
      <p:sp>
        <p:nvSpPr>
          <p:cNvPr id="250" name="TextBox 17"/>
          <p:cNvSpPr txBox="1"/>
          <p:nvPr/>
        </p:nvSpPr>
        <p:spPr>
          <a:xfrm>
            <a:off x="6283743" y="4139107"/>
            <a:ext cx="6054040" cy="1812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285750" indent="-285750">
              <a:spcBef>
                <a:spcPts val="600"/>
              </a:spcBef>
              <a:buSzPct val="100000"/>
              <a:buChar char="▪"/>
              <a:defRPr sz="14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Bar chart showing the count of loans flagged with fraud activity, broken down by customer type (Corporate vs. Retail).</a:t>
            </a:r>
          </a:p>
          <a:p>
            <a:pPr lvl="1" marL="742950" indent="-285750">
              <a:spcBef>
                <a:spcPts val="600"/>
              </a:spcBef>
              <a:buSzPct val="100000"/>
              <a:buFont typeface="Arial"/>
              <a:buChar char="—"/>
              <a:defRPr sz="14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 This reveals whether fraud detection concentrates in a particular segment.</a:t>
            </a:r>
          </a:p>
          <a:p>
            <a:pPr lvl="1" marL="742950" indent="-285750">
              <a:spcBef>
                <a:spcPts val="600"/>
              </a:spcBef>
              <a:buSzPct val="100000"/>
              <a:buFont typeface="Arial"/>
              <a:buChar char="—"/>
              <a:defRPr sz="14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Corporate Loans with Fraud Activity: 6</a:t>
            </a:r>
          </a:p>
          <a:p>
            <a:pPr lvl="1" marL="742950" indent="-285750">
              <a:spcBef>
                <a:spcPts val="600"/>
              </a:spcBef>
              <a:buSzPct val="100000"/>
              <a:buFont typeface="Arial"/>
              <a:buChar char="—"/>
              <a:defRPr sz="14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Retail Loans with Fraud Activity: 3</a:t>
            </a:r>
          </a:p>
        </p:txBody>
      </p:sp>
      <p:pic>
        <p:nvPicPr>
          <p:cNvPr id="251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66253" y="866899"/>
            <a:ext cx="4821384" cy="2861954"/>
          </a:xfrm>
          <a:prstGeom prst="rect">
            <a:avLst/>
          </a:prstGeom>
          <a:ln w="12700">
            <a:miter lim="400000"/>
          </a:ln>
        </p:spPr>
      </p:pic>
      <p:pic>
        <p:nvPicPr>
          <p:cNvPr id="252" name="Picture 7" descr="Picture 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66253" y="4080495"/>
            <a:ext cx="4904511" cy="261021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TextBox 7"/>
          <p:cNvSpPr txBox="1"/>
          <p:nvPr/>
        </p:nvSpPr>
        <p:spPr>
          <a:xfrm>
            <a:off x="111029" y="167945"/>
            <a:ext cx="11310572" cy="497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2F5597"/>
                </a:solidFill>
              </a:defRPr>
            </a:lvl1pPr>
          </a:lstStyle>
          <a:p>
            <a:pPr/>
            <a:r>
              <a:t>Short Summary for Lending Officers (Risks &amp; Recommendations)</a:t>
            </a:r>
          </a:p>
        </p:txBody>
      </p:sp>
      <p:sp>
        <p:nvSpPr>
          <p:cNvPr id="255" name="Straight Connector 1"/>
          <p:cNvSpPr/>
          <p:nvPr/>
        </p:nvSpPr>
        <p:spPr>
          <a:xfrm>
            <a:off x="9327" y="886407"/>
            <a:ext cx="12204002" cy="1"/>
          </a:xfrm>
          <a:prstGeom prst="line">
            <a:avLst/>
          </a:prstGeom>
          <a:ln w="19050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256" name="TextBox 3"/>
          <p:cNvSpPr txBox="1"/>
          <p:nvPr/>
        </p:nvSpPr>
        <p:spPr>
          <a:xfrm>
            <a:off x="111029" y="886406"/>
            <a:ext cx="11763904" cy="54516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285750" indent="-285750">
              <a:lnSpc>
                <a:spcPct val="150000"/>
              </a:lnSpc>
              <a:spcBef>
                <a:spcPts val="400"/>
              </a:spcBef>
              <a:buSzPct val="100000"/>
              <a:buChar char="▪"/>
              <a:defRPr b="1" sz="2000">
                <a:latin typeface="Arial"/>
                <a:ea typeface="Arial"/>
                <a:cs typeface="Arial"/>
                <a:sym typeface="Arial"/>
              </a:defRPr>
            </a:pPr>
            <a:r>
              <a:t>PORTFOLIO SUMMARY</a:t>
            </a:r>
          </a:p>
          <a:p>
            <a:pPr lvl="1" marL="742950" indent="-285750">
              <a:spcBef>
                <a:spcPts val="600"/>
              </a:spcBef>
              <a:buSzPct val="100000"/>
              <a:buFont typeface="Arial"/>
              <a:buChar char="—"/>
              <a:defRPr sz="2000">
                <a:latin typeface="Arial"/>
                <a:ea typeface="Arial"/>
                <a:cs typeface="Arial"/>
                <a:sym typeface="Arial"/>
              </a:defRPr>
            </a:pPr>
            <a:r>
              <a:t> Total Loans: 100 | Approved: ~74 (74%) | Conditional: ~0 (0%) | Rejected: ~26 (26%)</a:t>
            </a:r>
            <a:endParaRPr sz="1400"/>
          </a:p>
          <a:p>
            <a:pPr lvl="1" marL="742950" indent="-285750">
              <a:spcBef>
                <a:spcPts val="600"/>
              </a:spcBef>
              <a:buSzPct val="100000"/>
              <a:buFont typeface="Arial"/>
              <a:buChar char="—"/>
              <a:defRPr sz="2000">
                <a:latin typeface="Arial"/>
                <a:ea typeface="Arial"/>
                <a:cs typeface="Arial"/>
                <a:sym typeface="Arial"/>
              </a:defRPr>
            </a:pPr>
            <a:r>
              <a:t> 9 fraud alerts detected and rejected</a:t>
            </a:r>
            <a:endParaRPr sz="1400"/>
          </a:p>
          <a:p>
            <a:pPr lvl="1">
              <a:spcBef>
                <a:spcPts val="600"/>
              </a:spcBef>
              <a:defRPr sz="2000">
                <a:latin typeface="Arial"/>
                <a:ea typeface="Arial"/>
                <a:cs typeface="Arial"/>
                <a:sym typeface="Arial"/>
              </a:defRPr>
            </a:pPr>
          </a:p>
          <a:p>
            <a:pPr marL="285750" indent="-285750">
              <a:lnSpc>
                <a:spcPct val="150000"/>
              </a:lnSpc>
              <a:spcBef>
                <a:spcPts val="400"/>
              </a:spcBef>
              <a:buSzPct val="100000"/>
              <a:buChar char="▪"/>
              <a:defRPr b="1" sz="2000">
                <a:latin typeface="Arial"/>
                <a:ea typeface="Arial"/>
                <a:cs typeface="Arial"/>
                <a:sym typeface="Arial"/>
              </a:defRPr>
            </a:pPr>
            <a:r>
              <a:t>KEY RISKS</a:t>
            </a:r>
          </a:p>
          <a:p>
            <a:pPr lvl="1" marL="742950" indent="-285750">
              <a:spcBef>
                <a:spcPts val="600"/>
              </a:spcBef>
              <a:buSzPct val="100000"/>
              <a:buFont typeface="Arial"/>
              <a:buChar char="—"/>
              <a:defRPr sz="2000">
                <a:latin typeface="Arial"/>
                <a:ea typeface="Arial"/>
                <a:cs typeface="Arial"/>
                <a:sym typeface="Arial"/>
              </a:defRPr>
            </a:pPr>
            <a:r>
              <a:t> Fraud activity in transaction history → immediate account freeze required</a:t>
            </a:r>
            <a:endParaRPr sz="1400"/>
          </a:p>
          <a:p>
            <a:pPr lvl="1" marL="742950" indent="-285750">
              <a:spcBef>
                <a:spcPts val="600"/>
              </a:spcBef>
              <a:buSzPct val="100000"/>
              <a:buFont typeface="Arial"/>
              <a:buChar char="—"/>
              <a:defRPr sz="2000">
                <a:latin typeface="Arial"/>
                <a:ea typeface="Arial"/>
                <a:cs typeface="Arial"/>
                <a:sym typeface="Arial"/>
              </a:defRPr>
            </a:pPr>
            <a:r>
              <a:t> Prior defaults + high risk score → reject or require enhanced monitoring + collateral</a:t>
            </a:r>
            <a:endParaRPr sz="1400"/>
          </a:p>
          <a:p>
            <a:pPr lvl="1" marL="742950" indent="-285750">
              <a:spcBef>
                <a:spcPts val="600"/>
              </a:spcBef>
              <a:buSzPct val="100000"/>
              <a:buFont typeface="Arial"/>
              <a:buChar char="—"/>
              <a:defRPr sz="2000">
                <a:latin typeface="Arial"/>
                <a:ea typeface="Arial"/>
                <a:cs typeface="Arial"/>
                <a:sym typeface="Arial"/>
              </a:defRPr>
            </a:pPr>
            <a:r>
              <a:t> Medium-risk loans require quarterly/monthly review and rate premiums (+1.5-2%)</a:t>
            </a:r>
            <a:endParaRPr sz="1400"/>
          </a:p>
          <a:p>
            <a:pPr lvl="1">
              <a:spcBef>
                <a:spcPts val="600"/>
              </a:spcBef>
              <a:defRPr b="1" sz="2000">
                <a:latin typeface="Arial"/>
                <a:ea typeface="Arial"/>
                <a:cs typeface="Arial"/>
                <a:sym typeface="Arial"/>
              </a:defRPr>
            </a:pPr>
          </a:p>
          <a:p>
            <a:pPr marL="285750" indent="-285750">
              <a:lnSpc>
                <a:spcPct val="150000"/>
              </a:lnSpc>
              <a:spcBef>
                <a:spcPts val="400"/>
              </a:spcBef>
              <a:buSzPct val="100000"/>
              <a:buChar char="▪"/>
              <a:defRPr b="1" sz="2000">
                <a:latin typeface="Arial"/>
                <a:ea typeface="Arial"/>
                <a:cs typeface="Arial"/>
                <a:sym typeface="Arial"/>
              </a:defRPr>
            </a:pPr>
            <a:r>
              <a:t>TOP 3 RECOMMENDATIONS</a:t>
            </a:r>
          </a:p>
          <a:p>
            <a:pPr lvl="1" marL="742950" indent="-285750">
              <a:spcBef>
                <a:spcPts val="600"/>
              </a:spcBef>
              <a:buSzPct val="100000"/>
              <a:buFont typeface="Arial"/>
              <a:buChar char="—"/>
              <a:defRPr sz="2000">
                <a:latin typeface="Arial"/>
                <a:ea typeface="Arial"/>
                <a:cs typeface="Arial"/>
                <a:sym typeface="Arial"/>
              </a:defRPr>
            </a:pPr>
            <a:r>
              <a:t> Freeze fraud-linked customer accounts immediately and escalate to investigations</a:t>
            </a:r>
            <a:endParaRPr sz="1400"/>
          </a:p>
          <a:p>
            <a:pPr lvl="1" marL="742950" indent="-285750">
              <a:spcBef>
                <a:spcPts val="600"/>
              </a:spcBef>
              <a:buSzPct val="100000"/>
              <a:buFont typeface="Arial"/>
              <a:buChar char="—"/>
              <a:defRPr sz="2000">
                <a:latin typeface="Arial"/>
                <a:ea typeface="Arial"/>
                <a:cs typeface="Arial"/>
                <a:sym typeface="Arial"/>
              </a:defRPr>
            </a:pPr>
            <a:r>
              <a:t> Require collateral &amp; enhanced monitoring for CONDITIONAL loans; implement rate premiums</a:t>
            </a:r>
            <a:endParaRPr sz="1400"/>
          </a:p>
          <a:p>
            <a:pPr lvl="1" marL="742950" indent="-285750">
              <a:spcBef>
                <a:spcPts val="600"/>
              </a:spcBef>
              <a:buSzPct val="100000"/>
              <a:buFont typeface="Arial"/>
              <a:buChar char="—"/>
              <a:defRPr sz="2000">
                <a:latin typeface="Arial"/>
                <a:ea typeface="Arial"/>
                <a:cs typeface="Arial"/>
                <a:sym typeface="Arial"/>
              </a:defRPr>
            </a:pPr>
            <a:r>
              <a:t> Establish quarterly review pipeline for portfolio health; re-train models every 6 months</a:t>
            </a:r>
            <a:endParaRPr sz="1400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TextBox 4"/>
          <p:cNvSpPr txBox="1"/>
          <p:nvPr/>
        </p:nvSpPr>
        <p:spPr>
          <a:xfrm>
            <a:off x="167018" y="2543501"/>
            <a:ext cx="11842413" cy="5480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3200">
                <a:solidFill>
                  <a:srgbClr val="2F559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Module 3: Financial Markets Module (RS/RG)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TextBox 3"/>
          <p:cNvSpPr txBox="1"/>
          <p:nvPr/>
        </p:nvSpPr>
        <p:spPr>
          <a:xfrm>
            <a:off x="109727" y="164591"/>
            <a:ext cx="11731754" cy="4604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defRPr b="1" sz="3200">
                <a:solidFill>
                  <a:srgbClr val="2F5597"/>
                </a:solidFill>
              </a:defRPr>
            </a:lvl1pPr>
          </a:lstStyle>
          <a:p>
            <a:pPr/>
            <a:r>
              <a:t>Overall Approach  —  Financial Markets Module</a:t>
            </a:r>
          </a:p>
        </p:txBody>
      </p:sp>
      <p:sp>
        <p:nvSpPr>
          <p:cNvPr id="261" name="Rectangle 4"/>
          <p:cNvSpPr/>
          <p:nvPr/>
        </p:nvSpPr>
        <p:spPr>
          <a:xfrm>
            <a:off x="9143" y="868680"/>
            <a:ext cx="12161522" cy="18289"/>
          </a:xfrm>
          <a:prstGeom prst="rect">
            <a:avLst/>
          </a:prstGeom>
          <a:solidFill>
            <a:srgbClr val="00206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2" name="Rectangle 5"/>
          <p:cNvSpPr/>
          <p:nvPr/>
        </p:nvSpPr>
        <p:spPr>
          <a:xfrm>
            <a:off x="77724" y="1094640"/>
            <a:ext cx="11795760" cy="246889"/>
          </a:xfrm>
          <a:prstGeom prst="rect">
            <a:avLst/>
          </a:prstGeom>
          <a:solidFill>
            <a:srgbClr val="1F497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3" name="TextBox 6"/>
          <p:cNvSpPr txBox="1"/>
          <p:nvPr/>
        </p:nvSpPr>
        <p:spPr>
          <a:xfrm>
            <a:off x="79655" y="1112219"/>
            <a:ext cx="11631168" cy="2117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1 │ Dataset</a:t>
            </a:r>
          </a:p>
        </p:txBody>
      </p:sp>
      <p:sp>
        <p:nvSpPr>
          <p:cNvPr id="264" name="TextBox 7"/>
          <p:cNvSpPr txBox="1"/>
          <p:nvPr/>
        </p:nvSpPr>
        <p:spPr>
          <a:xfrm>
            <a:off x="105156" y="1540358"/>
            <a:ext cx="11740896" cy="6097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/>
          <a:p>
            <a:pPr>
              <a:defRPr sz="1300">
                <a:solidFill>
                  <a:srgbClr val="002060"/>
                </a:solidFill>
              </a:defRPr>
            </a:pPr>
            <a:r>
              <a:t>  • 6 NSE-listed stocks:  Asian Paints  │  CIPLA  │  HDFC Bank  │  ITC  │  TCS  │  UltraTech Cement</a:t>
            </a:r>
          </a:p>
          <a:p>
            <a:pPr>
              <a:defRPr sz="1300">
                <a:solidFill>
                  <a:srgbClr val="002060"/>
                </a:solidFill>
              </a:defRPr>
            </a:pPr>
            <a:r>
              <a:t>  • Date range:  Jan 2005 – Feb 2026  (~5,250 trading days per stock)</a:t>
            </a:r>
          </a:p>
          <a:p>
            <a:pPr>
              <a:defRPr sz="1300">
                <a:solidFill>
                  <a:srgbClr val="002060"/>
                </a:solidFill>
              </a:defRPr>
            </a:pPr>
            <a:r>
              <a:t>  • Macro data:  Quarterly &amp; Annual GDP growth + Inflation (forward-filled to daily frequency)</a:t>
            </a:r>
          </a:p>
        </p:txBody>
      </p:sp>
      <p:sp>
        <p:nvSpPr>
          <p:cNvPr id="265" name="Rectangle 8"/>
          <p:cNvSpPr/>
          <p:nvPr/>
        </p:nvSpPr>
        <p:spPr>
          <a:xfrm>
            <a:off x="77724" y="2348926"/>
            <a:ext cx="11795760" cy="246889"/>
          </a:xfrm>
          <a:prstGeom prst="rect">
            <a:avLst/>
          </a:prstGeom>
          <a:solidFill>
            <a:srgbClr val="1F497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6" name="TextBox 9"/>
          <p:cNvSpPr txBox="1"/>
          <p:nvPr/>
        </p:nvSpPr>
        <p:spPr>
          <a:xfrm>
            <a:off x="79655" y="2366505"/>
            <a:ext cx="11631168" cy="2117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2 │ Prediction Pipeline</a:t>
            </a:r>
          </a:p>
        </p:txBody>
      </p:sp>
      <p:sp>
        <p:nvSpPr>
          <p:cNvPr id="267" name="TextBox 10"/>
          <p:cNvSpPr txBox="1"/>
          <p:nvPr/>
        </p:nvSpPr>
        <p:spPr>
          <a:xfrm>
            <a:off x="141732" y="2677028"/>
            <a:ext cx="11731753" cy="4022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defRPr sz="1200">
                <a:solidFill>
                  <a:srgbClr val="002060"/>
                </a:solidFill>
              </a:defRPr>
            </a:lvl1pPr>
          </a:lstStyle>
          <a:p>
            <a:pPr/>
            <a:r>
              <a:t>Data  →  Features (20, lagged 1d)  →  Walk-Forward CV  →  Ensemble (XGBoost + LightGBM + RF)  →  Blend Weights  →  Live Inference  →  Confidence Shrinkage  →  Max-Sharpe Optimisation  →  Backtest</a:t>
            </a:r>
          </a:p>
        </p:txBody>
      </p:sp>
      <p:sp>
        <p:nvSpPr>
          <p:cNvPr id="268" name="Rectangle 11"/>
          <p:cNvSpPr/>
          <p:nvPr/>
        </p:nvSpPr>
        <p:spPr>
          <a:xfrm>
            <a:off x="109728" y="3395028"/>
            <a:ext cx="11795760" cy="246889"/>
          </a:xfrm>
          <a:prstGeom prst="rect">
            <a:avLst/>
          </a:prstGeom>
          <a:solidFill>
            <a:srgbClr val="1F497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9" name="TextBox 12"/>
          <p:cNvSpPr txBox="1"/>
          <p:nvPr/>
        </p:nvSpPr>
        <p:spPr>
          <a:xfrm>
            <a:off x="160020" y="3412607"/>
            <a:ext cx="11631168" cy="2117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3 │ Dual-Horizon Prediction</a:t>
            </a:r>
          </a:p>
        </p:txBody>
      </p:sp>
      <p:sp>
        <p:nvSpPr>
          <p:cNvPr id="270" name="TextBox 13"/>
          <p:cNvSpPr txBox="1"/>
          <p:nvPr/>
        </p:nvSpPr>
        <p:spPr>
          <a:xfrm>
            <a:off x="137160" y="3875532"/>
            <a:ext cx="11740896" cy="6097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/>
          <a:p>
            <a:pPr>
              <a:defRPr sz="1300">
                <a:solidFill>
                  <a:srgbClr val="002060"/>
                </a:solidFill>
              </a:defRPr>
            </a:pPr>
            <a:r>
              <a:t>  • 1-Year horizon (252 trading days)  — Tactical / short-term view</a:t>
            </a:r>
          </a:p>
          <a:p>
            <a:pPr>
              <a:defRPr sz="1300">
                <a:solidFill>
                  <a:srgbClr val="002060"/>
                </a:solidFill>
              </a:defRPr>
            </a:pPr>
            <a:r>
              <a:t>  • 3-Year horizon (756 trading days)  — Strategic / long-term view</a:t>
            </a:r>
          </a:p>
          <a:p>
            <a:pPr>
              <a:defRPr sz="1300">
                <a:solidFill>
                  <a:srgbClr val="002060"/>
                </a:solidFill>
              </a:defRPr>
            </a:pPr>
            <a:r>
              <a:t>  • Final weights = 50% × 1Y optimal  +  50% × 3Y optimal</a:t>
            </a:r>
          </a:p>
        </p:txBody>
      </p:sp>
      <p:sp>
        <p:nvSpPr>
          <p:cNvPr id="271" name="Rectangle 14"/>
          <p:cNvSpPr/>
          <p:nvPr/>
        </p:nvSpPr>
        <p:spPr>
          <a:xfrm>
            <a:off x="109728" y="4736465"/>
            <a:ext cx="11795760" cy="246889"/>
          </a:xfrm>
          <a:prstGeom prst="rect">
            <a:avLst/>
          </a:prstGeom>
          <a:solidFill>
            <a:srgbClr val="1F497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2" name="TextBox 15"/>
          <p:cNvSpPr txBox="1"/>
          <p:nvPr/>
        </p:nvSpPr>
        <p:spPr>
          <a:xfrm>
            <a:off x="160020" y="4765919"/>
            <a:ext cx="11631168" cy="2117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4 │ Key Design Principles</a:t>
            </a:r>
          </a:p>
        </p:txBody>
      </p:sp>
      <p:sp>
        <p:nvSpPr>
          <p:cNvPr id="273" name="TextBox 16"/>
          <p:cNvSpPr txBox="1"/>
          <p:nvPr/>
        </p:nvSpPr>
        <p:spPr>
          <a:xfrm>
            <a:off x="105156" y="5234549"/>
            <a:ext cx="11740896" cy="812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/>
          <a:p>
            <a:pPr>
              <a:defRPr sz="1300">
                <a:solidFill>
                  <a:srgbClr val="002060"/>
                </a:solidFill>
              </a:defRPr>
            </a:pPr>
            <a:r>
              <a:t>  • No lookahead bias: all features shifted 1 day;  embargo gap = horizon days (252 or 756)</a:t>
            </a:r>
          </a:p>
          <a:p>
            <a:pPr>
              <a:defRPr sz="1300">
                <a:solidFill>
                  <a:srgbClr val="002060"/>
                </a:solidFill>
              </a:defRPr>
            </a:pPr>
            <a:r>
              <a:t>  • Hit rate (directional accuracy) as primary metric — not R²  (magnitudes are unpredictable)</a:t>
            </a:r>
          </a:p>
          <a:p>
            <a:pPr>
              <a:defRPr sz="1300">
                <a:solidFill>
                  <a:srgbClr val="002060"/>
                </a:solidFill>
              </a:defRPr>
            </a:pPr>
            <a:r>
              <a:t>  • Confidence shrinkage: scale predicted returns toward zero when hit rate ≤ 50%</a:t>
            </a:r>
          </a:p>
          <a:p>
            <a:pPr>
              <a:defRPr sz="1300">
                <a:solidFill>
                  <a:srgbClr val="002060"/>
                </a:solidFill>
              </a:defRPr>
            </a:pPr>
            <a:r>
              <a:t>  • Cash gate: if no stock beats risk-free rate (6.5% p.a.), hold 100% cash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TextBox 3"/>
          <p:cNvSpPr txBox="1"/>
          <p:nvPr/>
        </p:nvSpPr>
        <p:spPr>
          <a:xfrm>
            <a:off x="109727" y="164591"/>
            <a:ext cx="11731754" cy="4604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defRPr b="1" sz="3200">
                <a:solidFill>
                  <a:srgbClr val="2F5597"/>
                </a:solidFill>
              </a:defRPr>
            </a:lvl1pPr>
          </a:lstStyle>
          <a:p>
            <a:pPr/>
            <a:r>
              <a:t>Feature Engineering  —  20 Features in 3 Groups</a:t>
            </a:r>
          </a:p>
        </p:txBody>
      </p:sp>
      <p:sp>
        <p:nvSpPr>
          <p:cNvPr id="276" name="Rectangle 4"/>
          <p:cNvSpPr/>
          <p:nvPr/>
        </p:nvSpPr>
        <p:spPr>
          <a:xfrm>
            <a:off x="9143" y="868680"/>
            <a:ext cx="12161522" cy="18289"/>
          </a:xfrm>
          <a:prstGeom prst="rect">
            <a:avLst/>
          </a:prstGeom>
          <a:solidFill>
            <a:srgbClr val="00206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7" name="TextBox 5"/>
          <p:cNvSpPr txBox="1"/>
          <p:nvPr/>
        </p:nvSpPr>
        <p:spPr>
          <a:xfrm>
            <a:off x="128016" y="960119"/>
            <a:ext cx="11759184" cy="2117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defRPr b="1" sz="1200">
                <a:solidFill>
                  <a:srgbClr val="002060"/>
                </a:solidFill>
              </a:defRPr>
            </a:lvl1pPr>
          </a:lstStyle>
          <a:p>
            <a:pPr/>
            <a:r>
              <a:t>All features are lagged 1 trading day (.shift(1)) to eliminate lookahead bias.</a:t>
            </a:r>
          </a:p>
        </p:txBody>
      </p:sp>
      <p:sp>
        <p:nvSpPr>
          <p:cNvPr id="278" name="Rectangle 6"/>
          <p:cNvSpPr/>
          <p:nvPr/>
        </p:nvSpPr>
        <p:spPr>
          <a:xfrm>
            <a:off x="109728" y="1414395"/>
            <a:ext cx="11795760" cy="246889"/>
          </a:xfrm>
          <a:prstGeom prst="rect">
            <a:avLst/>
          </a:prstGeom>
          <a:solidFill>
            <a:srgbClr val="1F497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9" name="TextBox 7"/>
          <p:cNvSpPr txBox="1"/>
          <p:nvPr/>
        </p:nvSpPr>
        <p:spPr>
          <a:xfrm>
            <a:off x="160020" y="1431974"/>
            <a:ext cx="11631168" cy="2117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Group 1 — Price / Short-Horizon  (9 features)</a:t>
            </a:r>
          </a:p>
        </p:txBody>
      </p:sp>
      <p:sp>
        <p:nvSpPr>
          <p:cNvPr id="280" name="TextBox 8"/>
          <p:cNvSpPr txBox="1"/>
          <p:nvPr/>
        </p:nvSpPr>
        <p:spPr>
          <a:xfrm>
            <a:off x="116671" y="1903829"/>
            <a:ext cx="11717866" cy="7649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/>
          <a:p>
            <a:pPr>
              <a:defRPr sz="1200">
                <a:solidFill>
                  <a:srgbClr val="002060"/>
                </a:solidFill>
              </a:defRPr>
            </a:pPr>
            <a:r>
              <a:t>  ret_1  ret_5  ret_20            1-day, 5-day, 20-day raw returns</a:t>
            </a:r>
          </a:p>
          <a:p>
            <a:pPr>
              <a:defRPr sz="1200">
                <a:solidFill>
                  <a:srgbClr val="002060"/>
                </a:solidFill>
              </a:defRPr>
            </a:pPr>
            <a:r>
              <a:t>  mom_5  mom_20                   5-day and 20-day momentum (cumulative return windows)</a:t>
            </a:r>
          </a:p>
          <a:p>
            <a:pPr>
              <a:defRPr sz="1200">
                <a:solidFill>
                  <a:srgbClr val="002060"/>
                </a:solidFill>
              </a:defRPr>
            </a:pPr>
            <a:r>
              <a:t>  vol_5  vol_20                   Rolling volatility over 5-day and 20-day windows</a:t>
            </a:r>
          </a:p>
          <a:p>
            <a:pPr>
              <a:defRPr sz="1200">
                <a:solidFill>
                  <a:srgbClr val="002060"/>
                </a:solidFill>
              </a:defRPr>
            </a:pPr>
            <a:r>
              <a:t>  vol_ratio  price_range          Short-term vol ratio; daily high–low range (normalised)</a:t>
            </a:r>
          </a:p>
        </p:txBody>
      </p:sp>
      <p:sp>
        <p:nvSpPr>
          <p:cNvPr id="281" name="Rectangle 12"/>
          <p:cNvSpPr/>
          <p:nvPr/>
        </p:nvSpPr>
        <p:spPr>
          <a:xfrm>
            <a:off x="109728" y="2982360"/>
            <a:ext cx="11795760" cy="246889"/>
          </a:xfrm>
          <a:prstGeom prst="rect">
            <a:avLst/>
          </a:prstGeom>
          <a:solidFill>
            <a:srgbClr val="1F497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2" name="TextBox 13"/>
          <p:cNvSpPr txBox="1"/>
          <p:nvPr/>
        </p:nvSpPr>
        <p:spPr>
          <a:xfrm>
            <a:off x="160020" y="3017520"/>
            <a:ext cx="11631168" cy="2117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Group 2 — Long-Horizon / Trend  (7 features)  ← dominant group  (47–55% of total importance)</a:t>
            </a:r>
          </a:p>
        </p:txBody>
      </p:sp>
      <p:sp>
        <p:nvSpPr>
          <p:cNvPr id="283" name="TextBox 14"/>
          <p:cNvSpPr txBox="1"/>
          <p:nvPr/>
        </p:nvSpPr>
        <p:spPr>
          <a:xfrm>
            <a:off x="98383" y="3400752"/>
            <a:ext cx="11754442" cy="95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/>
          <a:p>
            <a:pPr>
              <a:defRPr sz="1200">
                <a:solidFill>
                  <a:srgbClr val="002060"/>
                </a:solidFill>
              </a:defRPr>
            </a:pPr>
            <a:r>
              <a:t>  mom_252  mom_756                          52-week and 3-year momentum</a:t>
            </a:r>
          </a:p>
          <a:p>
            <a:pPr>
              <a:defRPr sz="1200">
                <a:solidFill>
                  <a:srgbClr val="002060"/>
                </a:solidFill>
              </a:defRPr>
            </a:pPr>
            <a:r>
              <a:t>  price_vs_ma252                            Price relative to 252-day moving average</a:t>
            </a:r>
          </a:p>
          <a:p>
            <a:pPr>
              <a:defRPr sz="1200">
                <a:solidFill>
                  <a:srgbClr val="002060"/>
                </a:solidFill>
              </a:defRPr>
            </a:pPr>
            <a:r>
              <a:t>  price_vs_ma756                            Price relative to 756-day (3-year) moving average</a:t>
            </a:r>
          </a:p>
          <a:p>
            <a:pPr>
              <a:defRPr sz="1200">
                <a:solidFill>
                  <a:srgbClr val="002060"/>
                </a:solidFill>
              </a:defRPr>
            </a:pPr>
            <a:r>
              <a:t>  vol_252                                   Annual volatility — 252-day rolling std of returns</a:t>
            </a:r>
          </a:p>
          <a:p>
            <a:pPr>
              <a:defRPr sz="1200">
                <a:solidFill>
                  <a:srgbClr val="002060"/>
                </a:solidFill>
              </a:defRPr>
            </a:pPr>
            <a:r>
              <a:t>  vol_ratio_sr_lr  vol_ratio_252            Short/long vol regime; annual vol ratio</a:t>
            </a:r>
          </a:p>
        </p:txBody>
      </p:sp>
      <p:sp>
        <p:nvSpPr>
          <p:cNvPr id="284" name="Rectangle 19"/>
          <p:cNvSpPr/>
          <p:nvPr/>
        </p:nvSpPr>
        <p:spPr>
          <a:xfrm>
            <a:off x="109728" y="4808599"/>
            <a:ext cx="11795760" cy="246889"/>
          </a:xfrm>
          <a:prstGeom prst="rect">
            <a:avLst/>
          </a:prstGeom>
          <a:solidFill>
            <a:srgbClr val="1F497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5" name="TextBox 20"/>
          <p:cNvSpPr txBox="1"/>
          <p:nvPr/>
        </p:nvSpPr>
        <p:spPr>
          <a:xfrm>
            <a:off x="192024" y="4826178"/>
            <a:ext cx="11631168" cy="2117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Group 3 — Macroeconomic  (4 features)</a:t>
            </a:r>
          </a:p>
        </p:txBody>
      </p:sp>
      <p:sp>
        <p:nvSpPr>
          <p:cNvPr id="286" name="TextBox 21"/>
          <p:cNvSpPr txBox="1"/>
          <p:nvPr/>
        </p:nvSpPr>
        <p:spPr>
          <a:xfrm>
            <a:off x="116671" y="5332367"/>
            <a:ext cx="11717866" cy="3839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/>
          <a:p>
            <a:pPr>
              <a:defRPr sz="1200">
                <a:solidFill>
                  <a:srgbClr val="002060"/>
                </a:solidFill>
              </a:defRPr>
            </a:pPr>
            <a:r>
              <a:t>  macro_gdp_qrt  macro_inflation_qrt        Quarterly GDP growth &amp; inflation</a:t>
            </a:r>
          </a:p>
          <a:p>
            <a:pPr>
              <a:defRPr sz="1200">
                <a:solidFill>
                  <a:srgbClr val="002060"/>
                </a:solidFill>
              </a:defRPr>
            </a:pPr>
            <a:r>
              <a:t>  macro_gdp_ann  macro_inflation_ann        Annual GDP growth &amp; inflation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TextBox 3"/>
          <p:cNvSpPr txBox="1"/>
          <p:nvPr/>
        </p:nvSpPr>
        <p:spPr>
          <a:xfrm>
            <a:off x="109727" y="164591"/>
            <a:ext cx="11731754" cy="4604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defRPr b="1" sz="3200">
                <a:solidFill>
                  <a:srgbClr val="2F5597"/>
                </a:solidFill>
              </a:defRPr>
            </a:lvl1pPr>
          </a:lstStyle>
          <a:p>
            <a:pPr/>
            <a:r>
              <a:t>Walk-Forward Cross-Validation  —  Architecture</a:t>
            </a:r>
          </a:p>
        </p:txBody>
      </p:sp>
      <p:sp>
        <p:nvSpPr>
          <p:cNvPr id="289" name="Rectangle 4"/>
          <p:cNvSpPr/>
          <p:nvPr/>
        </p:nvSpPr>
        <p:spPr>
          <a:xfrm>
            <a:off x="9143" y="868680"/>
            <a:ext cx="12161522" cy="18289"/>
          </a:xfrm>
          <a:prstGeom prst="rect">
            <a:avLst/>
          </a:prstGeom>
          <a:solidFill>
            <a:srgbClr val="00206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0" name="Rectangle 5"/>
          <p:cNvSpPr/>
          <p:nvPr/>
        </p:nvSpPr>
        <p:spPr>
          <a:xfrm>
            <a:off x="109727" y="960119"/>
            <a:ext cx="5394962" cy="246889"/>
          </a:xfrm>
          <a:prstGeom prst="rect">
            <a:avLst/>
          </a:prstGeom>
          <a:solidFill>
            <a:srgbClr val="1F497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1" name="TextBox 6"/>
          <p:cNvSpPr txBox="1"/>
          <p:nvPr/>
        </p:nvSpPr>
        <p:spPr>
          <a:xfrm>
            <a:off x="192023" y="978408"/>
            <a:ext cx="5230369" cy="2117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CV Parameters</a:t>
            </a:r>
          </a:p>
        </p:txBody>
      </p:sp>
      <p:graphicFrame>
        <p:nvGraphicFramePr>
          <p:cNvPr id="292" name="Table 7"/>
          <p:cNvGraphicFramePr/>
          <p:nvPr/>
        </p:nvGraphicFramePr>
        <p:xfrm>
          <a:off x="109727" y="1413494"/>
          <a:ext cx="5394961" cy="1645921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2286000"/>
                <a:gridCol w="3108960"/>
              </a:tblGrid>
              <a:tr h="274320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00206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002060"/>
                          </a:solidFill>
                        </a:rPr>
                        <a:t>Training window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002060"/>
                          </a:solidFill>
                        </a:rPr>
                        <a:t>1,260 days  (~5 years)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E8ED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002060"/>
                          </a:solidFill>
                        </a:rPr>
                        <a:t>Test window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002060"/>
                          </a:solidFill>
                        </a:rPr>
                        <a:t>  252 days  (~1 year per fold)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002060"/>
                          </a:solidFill>
                        </a:rPr>
                        <a:t>Embargo gap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002060"/>
                          </a:solidFill>
                        </a:rPr>
                        <a:t>horizon days  (252 for 1Y,  756 for 3Y)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E8ED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002060"/>
                          </a:solidFill>
                        </a:rPr>
                        <a:t>Folds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002060"/>
                          </a:solidFill>
                        </a:rPr>
                        <a:t>13 folds (1Y horizon)  |  9 folds (3Y horizon)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002060"/>
                          </a:solidFill>
                        </a:rPr>
                        <a:t>Test period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002060"/>
                          </a:solidFill>
                        </a:rPr>
                        <a:t>2011 – 2024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E8EDF7"/>
                    </a:solidFill>
                  </a:tcPr>
                </a:tc>
              </a:tr>
            </a:tbl>
          </a:graphicData>
        </a:graphic>
      </p:graphicFrame>
      <p:sp>
        <p:nvSpPr>
          <p:cNvPr id="293" name="Rectangle 8"/>
          <p:cNvSpPr/>
          <p:nvPr/>
        </p:nvSpPr>
        <p:spPr>
          <a:xfrm>
            <a:off x="5669279" y="960119"/>
            <a:ext cx="6217921" cy="246889"/>
          </a:xfrm>
          <a:prstGeom prst="rect">
            <a:avLst/>
          </a:prstGeom>
          <a:solidFill>
            <a:srgbClr val="1F497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4" name="TextBox 9"/>
          <p:cNvSpPr txBox="1"/>
          <p:nvPr/>
        </p:nvSpPr>
        <p:spPr>
          <a:xfrm>
            <a:off x="5751576" y="978408"/>
            <a:ext cx="6053329" cy="2117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Fold Layout  (1Y horizon)</a:t>
            </a:r>
          </a:p>
        </p:txBody>
      </p:sp>
      <p:sp>
        <p:nvSpPr>
          <p:cNvPr id="295" name="TextBox 10"/>
          <p:cNvSpPr txBox="1"/>
          <p:nvPr/>
        </p:nvSpPr>
        <p:spPr>
          <a:xfrm>
            <a:off x="5696711" y="1402332"/>
            <a:ext cx="6163057" cy="5010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/>
          <a:p>
            <a:pPr>
              <a:defRPr sz="1100">
                <a:solidFill>
                  <a:srgbClr val="002060"/>
                </a:solidFill>
              </a:defRPr>
            </a:pPr>
            <a:r>
              <a:t>Fold k:     [──────── Train  5yr ────────][ EMRG ][ Test 1yr ]</a:t>
            </a:r>
          </a:p>
          <a:p>
            <a:pPr>
              <a:defRPr sz="1100">
                <a:solidFill>
                  <a:srgbClr val="002060"/>
                </a:solidFill>
              </a:defRPr>
            </a:pPr>
            <a:r>
              <a:t>Fold k+1:        [──────── Train  5yr ────────][ EMRG ][ Test 1yr ]</a:t>
            </a:r>
          </a:p>
          <a:p>
            <a:pPr>
              <a:defRPr sz="1100">
                <a:solidFill>
                  <a:srgbClr val="002060"/>
                </a:solidFill>
              </a:defRPr>
            </a:pPr>
            <a:r>
              <a:t>Fold k+2:              [──────── Train  5yr ────────][ EMRG ][ Test 1yr ]</a:t>
            </a:r>
          </a:p>
        </p:txBody>
      </p:sp>
      <p:sp>
        <p:nvSpPr>
          <p:cNvPr id="296" name="Rectangle 11"/>
          <p:cNvSpPr/>
          <p:nvPr/>
        </p:nvSpPr>
        <p:spPr>
          <a:xfrm>
            <a:off x="109728" y="3558508"/>
            <a:ext cx="11795760" cy="246889"/>
          </a:xfrm>
          <a:prstGeom prst="rect">
            <a:avLst/>
          </a:prstGeom>
          <a:solidFill>
            <a:srgbClr val="1F497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7" name="TextBox 12"/>
          <p:cNvSpPr txBox="1"/>
          <p:nvPr/>
        </p:nvSpPr>
        <p:spPr>
          <a:xfrm>
            <a:off x="160020" y="3576087"/>
            <a:ext cx="11631168" cy="2117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Why Embargo?  —  Preventing Target Leakage</a:t>
            </a:r>
          </a:p>
        </p:txBody>
      </p:sp>
      <p:sp>
        <p:nvSpPr>
          <p:cNvPr id="298" name="TextBox 13"/>
          <p:cNvSpPr txBox="1"/>
          <p:nvPr/>
        </p:nvSpPr>
        <p:spPr>
          <a:xfrm>
            <a:off x="137160" y="4031020"/>
            <a:ext cx="11740896" cy="6097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/>
          <a:p>
            <a:pPr>
              <a:defRPr sz="1300">
                <a:solidFill>
                  <a:srgbClr val="002060"/>
                </a:solidFill>
              </a:defRPr>
            </a:pPr>
            <a:r>
              <a:t>  The target is the FORWARD return over the next H days.</a:t>
            </a:r>
          </a:p>
          <a:p>
            <a:pPr>
              <a:defRPr sz="1300">
                <a:solidFill>
                  <a:srgbClr val="002060"/>
                </a:solidFill>
              </a:defRPr>
            </a:pPr>
            <a:r>
              <a:t>  Without an embargo, the final H days of training overlap with the test target.</a:t>
            </a:r>
          </a:p>
          <a:p>
            <a:pPr>
              <a:defRPr sz="1300">
                <a:solidFill>
                  <a:srgbClr val="002060"/>
                </a:solidFill>
              </a:defRPr>
            </a:pPr>
            <a:r>
              <a:t>  Embargo = H days creates a clean gap — no test-period data contaminates training targets.</a:t>
            </a:r>
          </a:p>
        </p:txBody>
      </p:sp>
      <p:sp>
        <p:nvSpPr>
          <p:cNvPr id="299" name="Rectangle 14"/>
          <p:cNvSpPr/>
          <p:nvPr/>
        </p:nvSpPr>
        <p:spPr>
          <a:xfrm>
            <a:off x="109728" y="5046777"/>
            <a:ext cx="11795760" cy="246890"/>
          </a:xfrm>
          <a:prstGeom prst="rect">
            <a:avLst/>
          </a:prstGeom>
          <a:solidFill>
            <a:srgbClr val="1F497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0" name="TextBox 15"/>
          <p:cNvSpPr txBox="1"/>
          <p:nvPr/>
        </p:nvSpPr>
        <p:spPr>
          <a:xfrm>
            <a:off x="192024" y="5064357"/>
            <a:ext cx="11631168" cy="2117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Why Hit Rate instead of R²?</a:t>
            </a:r>
          </a:p>
        </p:txBody>
      </p:sp>
      <p:sp>
        <p:nvSpPr>
          <p:cNvPr id="301" name="TextBox 16"/>
          <p:cNvSpPr txBox="1"/>
          <p:nvPr/>
        </p:nvSpPr>
        <p:spPr>
          <a:xfrm>
            <a:off x="105156" y="5370795"/>
            <a:ext cx="11740896" cy="6097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/>
          <a:p>
            <a:pPr>
              <a:defRPr sz="1300">
                <a:solidFill>
                  <a:srgbClr val="002060"/>
                </a:solidFill>
              </a:defRPr>
            </a:pPr>
            <a:r>
              <a:t>  Return magnitudes are nearly unpredictable — R² is consistently negative (−3 to −300).</a:t>
            </a:r>
          </a:p>
          <a:p>
            <a:pPr>
              <a:defRPr sz="1300">
                <a:solidFill>
                  <a:srgbClr val="002060"/>
                </a:solidFill>
              </a:defRPr>
            </a:pPr>
            <a:r>
              <a:t>  Direction (up vs down) can carry a signal.  Hit rate &gt; 50%  →  positive directional edge.</a:t>
            </a:r>
          </a:p>
          <a:p>
            <a:pPr>
              <a:defRPr sz="1300">
                <a:solidFill>
                  <a:srgbClr val="002060"/>
                </a:solidFill>
              </a:defRPr>
            </a:pPr>
            <a:r>
              <a:t>  Ensemble models with hit rate &gt; 60% get full confidence; below 50% → predictions shrunk to zero.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TextBox 3"/>
          <p:cNvSpPr txBox="1"/>
          <p:nvPr/>
        </p:nvSpPr>
        <p:spPr>
          <a:xfrm>
            <a:off x="109727" y="164591"/>
            <a:ext cx="11731754" cy="4604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defRPr b="1" sz="3200">
                <a:solidFill>
                  <a:srgbClr val="2F5597"/>
                </a:solidFill>
              </a:defRPr>
            </a:lvl1pPr>
          </a:lstStyle>
          <a:p>
            <a:pPr/>
            <a:r>
              <a:t>CV Diagnostic Results  —  1-Year Horizon  (13 folds, 2011–2024)</a:t>
            </a:r>
          </a:p>
        </p:txBody>
      </p:sp>
      <p:sp>
        <p:nvSpPr>
          <p:cNvPr id="304" name="Rectangle 4"/>
          <p:cNvSpPr/>
          <p:nvPr/>
        </p:nvSpPr>
        <p:spPr>
          <a:xfrm>
            <a:off x="9143" y="868680"/>
            <a:ext cx="12161522" cy="18289"/>
          </a:xfrm>
          <a:prstGeom prst="rect">
            <a:avLst/>
          </a:prstGeom>
          <a:solidFill>
            <a:srgbClr val="00206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5" name="TextBox 5"/>
          <p:cNvSpPr txBox="1"/>
          <p:nvPr/>
        </p:nvSpPr>
        <p:spPr>
          <a:xfrm>
            <a:off x="128016" y="960119"/>
            <a:ext cx="11759184" cy="2117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defRPr b="1" sz="1200">
                <a:solidFill>
                  <a:srgbClr val="002060"/>
                </a:solidFill>
              </a:defRPr>
            </a:lvl1pPr>
          </a:lstStyle>
          <a:p>
            <a:pPr/>
            <a:r>
              <a:t>Ensemble mean hit rate across walk-forward folds  |  BUY threshold: hit rate &gt; 50%</a:t>
            </a:r>
          </a:p>
        </p:txBody>
      </p:sp>
      <p:graphicFrame>
        <p:nvGraphicFramePr>
          <p:cNvPr id="306" name="Table 6"/>
          <p:cNvGraphicFramePr/>
          <p:nvPr/>
        </p:nvGraphicFramePr>
        <p:xfrm>
          <a:off x="109728" y="1280160"/>
          <a:ext cx="11741278" cy="2185798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2526839"/>
                <a:gridCol w="1744722"/>
                <a:gridCol w="1744722"/>
                <a:gridCol w="1323582"/>
                <a:gridCol w="1744722"/>
                <a:gridCol w="1323582"/>
                <a:gridCol w="1323582"/>
              </a:tblGrid>
              <a:tr h="310896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Company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XGBoost Hit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LightGBM Hit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RF Hit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Ensemble Hit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Ens R²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Stability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002060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002060"/>
                          </a:solidFill>
                        </a:rPr>
                        <a:t>Asian Paints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002060"/>
                          </a:solidFill>
                        </a:rPr>
                        <a:t>69.3%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002060"/>
                          </a:solidFill>
                        </a:rPr>
                        <a:t>75.1%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002060"/>
                          </a:solidFill>
                        </a:rPr>
                        <a:t>71.6%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002060"/>
                          </a:solidFill>
                        </a:rPr>
                        <a:t>74.6%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002060"/>
                          </a:solidFill>
                        </a:rPr>
                        <a:t>−4.99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002060"/>
                          </a:solidFill>
                        </a:rPr>
                        <a:t>Low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E8ED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002060"/>
                          </a:solidFill>
                        </a:rPr>
                        <a:t>CIPLA ★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002060"/>
                          </a:solidFill>
                        </a:rPr>
                        <a:t>98.4%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002060"/>
                          </a:solidFill>
                        </a:rPr>
                        <a:t>98.4%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002060"/>
                          </a:solidFill>
                        </a:rPr>
                        <a:t>98.4%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002060"/>
                          </a:solidFill>
                        </a:rPr>
                        <a:t>98.4%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002060"/>
                          </a:solidFill>
                        </a:rPr>
                        <a:t>−4.34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002060"/>
                          </a:solidFill>
                        </a:rPr>
                        <a:t>Medium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002060"/>
                          </a:solidFill>
                        </a:rPr>
                        <a:t>HDFC Bank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002060"/>
                          </a:solidFill>
                        </a:rPr>
                        <a:t>45.1%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002060"/>
                          </a:solidFill>
                        </a:rPr>
                        <a:t>44.9%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002060"/>
                          </a:solidFill>
                        </a:rPr>
                        <a:t>48.6%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002060"/>
                          </a:solidFill>
                        </a:rPr>
                        <a:t>48.4%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002060"/>
                          </a:solidFill>
                        </a:rPr>
                        <a:t>−11.30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002060"/>
                          </a:solidFill>
                        </a:rPr>
                        <a:t>Low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E8ED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002060"/>
                          </a:solidFill>
                        </a:rPr>
                        <a:t>ITC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002060"/>
                          </a:solidFill>
                        </a:rPr>
                        <a:t>51.1%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002060"/>
                          </a:solidFill>
                        </a:rPr>
                        <a:t>53.8%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002060"/>
                          </a:solidFill>
                        </a:rPr>
                        <a:t>61.9%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002060"/>
                          </a:solidFill>
                        </a:rPr>
                        <a:t>55.2%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002060"/>
                          </a:solidFill>
                        </a:rPr>
                        <a:t>−14.46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002060"/>
                          </a:solidFill>
                        </a:rPr>
                        <a:t>Low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002060"/>
                          </a:solidFill>
                        </a:rPr>
                        <a:t>TCS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002060"/>
                          </a:solidFill>
                        </a:rPr>
                        <a:t>51.5%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002060"/>
                          </a:solidFill>
                        </a:rPr>
                        <a:t>45.8%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002060"/>
                          </a:solidFill>
                        </a:rPr>
                        <a:t>50.1%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002060"/>
                          </a:solidFill>
                        </a:rPr>
                        <a:t>46.2%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002060"/>
                          </a:solidFill>
                        </a:rPr>
                        <a:t>−14.65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002060"/>
                          </a:solidFill>
                        </a:rPr>
                        <a:t>Low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E8ED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002060"/>
                          </a:solidFill>
                        </a:rPr>
                        <a:t>UltraTech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002060"/>
                          </a:solidFill>
                        </a:rPr>
                        <a:t>55.4%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002060"/>
                          </a:solidFill>
                        </a:rPr>
                        <a:t>58.2%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002060"/>
                          </a:solidFill>
                        </a:rPr>
                        <a:t>66.8%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002060"/>
                          </a:solidFill>
                        </a:rPr>
                        <a:t>62.3%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002060"/>
                          </a:solidFill>
                        </a:rPr>
                        <a:t>−12.15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002060"/>
                          </a:solidFill>
                        </a:rPr>
                        <a:t>Low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7" name="Rectangle 7"/>
          <p:cNvSpPr/>
          <p:nvPr/>
        </p:nvSpPr>
        <p:spPr>
          <a:xfrm>
            <a:off x="109728" y="3621023"/>
            <a:ext cx="11759184" cy="246889"/>
          </a:xfrm>
          <a:prstGeom prst="rect">
            <a:avLst/>
          </a:prstGeom>
          <a:solidFill>
            <a:srgbClr val="1F497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8" name="TextBox 8"/>
          <p:cNvSpPr txBox="1"/>
          <p:nvPr/>
        </p:nvSpPr>
        <p:spPr>
          <a:xfrm>
            <a:off x="192024" y="3639311"/>
            <a:ext cx="11631168" cy="2117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Ensemble Blend Weights  (softmax of per-model CV hit rates)</a:t>
            </a:r>
          </a:p>
        </p:txBody>
      </p:sp>
      <p:graphicFrame>
        <p:nvGraphicFramePr>
          <p:cNvPr id="309" name="Table 9"/>
          <p:cNvGraphicFramePr/>
          <p:nvPr/>
        </p:nvGraphicFramePr>
        <p:xfrm>
          <a:off x="119092" y="3959352"/>
          <a:ext cx="7419346" cy="1801750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2593437"/>
                <a:gridCol w="1574586"/>
                <a:gridCol w="1574586"/>
                <a:gridCol w="1667209"/>
              </a:tblGrid>
              <a:tr h="256032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Company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XGBoost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LightGBM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RandomForest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00206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002060"/>
                          </a:solidFill>
                        </a:rPr>
                        <a:t>Asian Paints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002060"/>
                          </a:solidFill>
                        </a:rPr>
                        <a:t>0.248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002060"/>
                          </a:solidFill>
                        </a:rPr>
                        <a:t>0.442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002060"/>
                          </a:solidFill>
                        </a:rPr>
                        <a:t>0.310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E8EDF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002060"/>
                          </a:solidFill>
                        </a:rPr>
                        <a:t>CIPLA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002060"/>
                          </a:solidFill>
                        </a:rPr>
                        <a:t>0.333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002060"/>
                          </a:solidFill>
                        </a:rPr>
                        <a:t>0.333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002060"/>
                          </a:solidFill>
                        </a:rPr>
                        <a:t>0.333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002060"/>
                          </a:solidFill>
                        </a:rPr>
                        <a:t>HDFC Bank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002060"/>
                          </a:solidFill>
                        </a:rPr>
                        <a:t>0.295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002060"/>
                          </a:solidFill>
                        </a:rPr>
                        <a:t>0.287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002060"/>
                          </a:solidFill>
                        </a:rPr>
                        <a:t>0.417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E8EDF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002060"/>
                          </a:solidFill>
                        </a:rPr>
                        <a:t>ITC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002060"/>
                          </a:solidFill>
                        </a:rPr>
                        <a:t>0.190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002060"/>
                          </a:solidFill>
                        </a:rPr>
                        <a:t>0.248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002060"/>
                          </a:solidFill>
                        </a:rPr>
                        <a:t>0.561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002060"/>
                          </a:solidFill>
                        </a:rPr>
                        <a:t>TCS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002060"/>
                          </a:solidFill>
                        </a:rPr>
                        <a:t>0.410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002060"/>
                          </a:solidFill>
                        </a:rPr>
                        <a:t>0.234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002060"/>
                          </a:solidFill>
                        </a:rPr>
                        <a:t>0.357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E8EDF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002060"/>
                          </a:solidFill>
                        </a:rPr>
                        <a:t>UltraTech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002060"/>
                          </a:solidFill>
                        </a:rPr>
                        <a:t>0.183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002060"/>
                          </a:solidFill>
                        </a:rPr>
                        <a:t>0.243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002060"/>
                          </a:solidFill>
                        </a:rPr>
                        <a:t>0.574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0" name="Rectangle 10"/>
          <p:cNvSpPr/>
          <p:nvPr/>
        </p:nvSpPr>
        <p:spPr>
          <a:xfrm>
            <a:off x="7680959" y="3895344"/>
            <a:ext cx="4160521" cy="1920240"/>
          </a:xfrm>
          <a:prstGeom prst="rect">
            <a:avLst/>
          </a:prstGeom>
          <a:solidFill>
            <a:srgbClr val="37864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1" name="TextBox 11"/>
          <p:cNvSpPr txBox="1"/>
          <p:nvPr/>
        </p:nvSpPr>
        <p:spPr>
          <a:xfrm>
            <a:off x="7744968" y="4272076"/>
            <a:ext cx="4032505" cy="1919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 algn="ctr">
              <a:defRPr sz="1000">
                <a:solidFill>
                  <a:srgbClr val="FFFFFF"/>
                </a:solidFill>
              </a:defRPr>
            </a:lvl1pPr>
          </a:lstStyle>
          <a:p>
            <a:pPr/>
            <a:r>
              <a:t>CIPLA — Best 1Y Performer</a:t>
            </a:r>
          </a:p>
        </p:txBody>
      </p:sp>
      <p:sp>
        <p:nvSpPr>
          <p:cNvPr id="312" name="TextBox 12"/>
          <p:cNvSpPr txBox="1"/>
          <p:nvPr/>
        </p:nvSpPr>
        <p:spPr>
          <a:xfrm>
            <a:off x="7744968" y="4500676"/>
            <a:ext cx="4032505" cy="348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 algn="ctr">
              <a:defRPr b="1" sz="2200">
                <a:solidFill>
                  <a:srgbClr val="FFFFFF"/>
                </a:solidFill>
              </a:defRPr>
            </a:lvl1pPr>
          </a:lstStyle>
          <a:p>
            <a:pPr/>
            <a:r>
              <a:t>98.4% Hit Rate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TextBox 3"/>
          <p:cNvSpPr txBox="1"/>
          <p:nvPr/>
        </p:nvSpPr>
        <p:spPr>
          <a:xfrm>
            <a:off x="109727" y="164591"/>
            <a:ext cx="11731754" cy="4604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defRPr b="1" sz="3200">
                <a:solidFill>
                  <a:srgbClr val="2F5597"/>
                </a:solidFill>
              </a:defRPr>
            </a:lvl1pPr>
          </a:lstStyle>
          <a:p>
            <a:pPr/>
            <a:r>
              <a:t>CV Diagnostic Results  —  3-Year Horizon  (9 folds, 2013–2024)</a:t>
            </a:r>
          </a:p>
        </p:txBody>
      </p:sp>
      <p:sp>
        <p:nvSpPr>
          <p:cNvPr id="315" name="Rectangle 4"/>
          <p:cNvSpPr/>
          <p:nvPr/>
        </p:nvSpPr>
        <p:spPr>
          <a:xfrm>
            <a:off x="9143" y="868680"/>
            <a:ext cx="12161522" cy="18289"/>
          </a:xfrm>
          <a:prstGeom prst="rect">
            <a:avLst/>
          </a:prstGeom>
          <a:solidFill>
            <a:srgbClr val="00206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6" name="TextBox 5"/>
          <p:cNvSpPr txBox="1"/>
          <p:nvPr/>
        </p:nvSpPr>
        <p:spPr>
          <a:xfrm>
            <a:off x="128016" y="960119"/>
            <a:ext cx="11759184" cy="2117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defRPr b="1" sz="1200">
                <a:solidFill>
                  <a:srgbClr val="002060"/>
                </a:solidFill>
              </a:defRPr>
            </a:lvl1pPr>
          </a:lstStyle>
          <a:p>
            <a:pPr/>
            <a:r>
              <a:t>Ensemble mean hit rate across walk-forward folds  |  Longer horizon = fewer but more stable folds</a:t>
            </a:r>
          </a:p>
        </p:txBody>
      </p:sp>
      <p:graphicFrame>
        <p:nvGraphicFramePr>
          <p:cNvPr id="317" name="Table 6"/>
          <p:cNvGraphicFramePr/>
          <p:nvPr/>
        </p:nvGraphicFramePr>
        <p:xfrm>
          <a:off x="109728" y="1280160"/>
          <a:ext cx="11805285" cy="2185798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2540625"/>
                <a:gridCol w="1754241"/>
                <a:gridCol w="1754241"/>
                <a:gridCol w="1330803"/>
                <a:gridCol w="1754241"/>
                <a:gridCol w="1330803"/>
                <a:gridCol w="1330803"/>
              </a:tblGrid>
              <a:tr h="310896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Company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XGBoost Hit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LightGBM Hit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RF Hit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Ensemble Hit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Ens R²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Stability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002060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002060"/>
                          </a:solidFill>
                        </a:rPr>
                        <a:t>Asian Paints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002060"/>
                          </a:solidFill>
                        </a:rPr>
                        <a:t>79.5%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002060"/>
                          </a:solidFill>
                        </a:rPr>
                        <a:t>80.4%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002060"/>
                          </a:solidFill>
                        </a:rPr>
                        <a:t>85.7%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002060"/>
                          </a:solidFill>
                        </a:rPr>
                        <a:t>81.5%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002060"/>
                          </a:solidFill>
                        </a:rPr>
                        <a:t>−63.1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002060"/>
                          </a:solidFill>
                        </a:rPr>
                        <a:t>Low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E8ED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002060"/>
                          </a:solidFill>
                        </a:rPr>
                        <a:t>CIPLA ★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002060"/>
                          </a:solidFill>
                        </a:rPr>
                        <a:t>100.0%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002060"/>
                          </a:solidFill>
                        </a:rPr>
                        <a:t>100.0%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002060"/>
                          </a:solidFill>
                        </a:rPr>
                        <a:t>100.0%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002060"/>
                          </a:solidFill>
                        </a:rPr>
                        <a:t>100.0%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002060"/>
                          </a:solidFill>
                        </a:rPr>
                        <a:t>−12.9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002060"/>
                          </a:solidFill>
                        </a:rPr>
                        <a:t>High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002060"/>
                          </a:solidFill>
                        </a:rPr>
                        <a:t>HDFC Bank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002060"/>
                          </a:solidFill>
                        </a:rPr>
                        <a:t>70.7%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002060"/>
                          </a:solidFill>
                        </a:rPr>
                        <a:t>65.2%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002060"/>
                          </a:solidFill>
                        </a:rPr>
                        <a:t>60.4%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002060"/>
                          </a:solidFill>
                        </a:rPr>
                        <a:t>67.9%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002060"/>
                          </a:solidFill>
                        </a:rPr>
                        <a:t>−66.5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002060"/>
                          </a:solidFill>
                        </a:rPr>
                        <a:t>Low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E8ED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002060"/>
                          </a:solidFill>
                        </a:rPr>
                        <a:t>ITC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002060"/>
                          </a:solidFill>
                        </a:rPr>
                        <a:t>84.2%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002060"/>
                          </a:solidFill>
                        </a:rPr>
                        <a:t>79.3%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002060"/>
                          </a:solidFill>
                        </a:rPr>
                        <a:t>99.6%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002060"/>
                          </a:solidFill>
                        </a:rPr>
                        <a:t>88.4%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002060"/>
                          </a:solidFill>
                        </a:rPr>
                        <a:t>−867.1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002060"/>
                          </a:solidFill>
                        </a:rPr>
                        <a:t>Low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002060"/>
                          </a:solidFill>
                        </a:rPr>
                        <a:t>TCS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002060"/>
                          </a:solidFill>
                        </a:rPr>
                        <a:t>67.2%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002060"/>
                          </a:solidFill>
                        </a:rPr>
                        <a:t>64.9%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002060"/>
                          </a:solidFill>
                        </a:rPr>
                        <a:t>86.7%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002060"/>
                          </a:solidFill>
                        </a:rPr>
                        <a:t>68.6%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002060"/>
                          </a:solidFill>
                        </a:rPr>
                        <a:t>−42.2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002060"/>
                          </a:solidFill>
                        </a:rPr>
                        <a:t>Low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E8ED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002060"/>
                          </a:solidFill>
                        </a:rPr>
                        <a:t>UltraTech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002060"/>
                          </a:solidFill>
                        </a:rPr>
                        <a:t>69.9%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002060"/>
                          </a:solidFill>
                        </a:rPr>
                        <a:t>54.5%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002060"/>
                          </a:solidFill>
                        </a:rPr>
                        <a:t>44.5%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002060"/>
                          </a:solidFill>
                        </a:rPr>
                        <a:t>52.7%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002060"/>
                          </a:solidFill>
                        </a:rPr>
                        <a:t>−286.9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002060"/>
                          </a:solidFill>
                        </a:rPr>
                        <a:t>Low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8" name="Rectangle 7"/>
          <p:cNvSpPr/>
          <p:nvPr/>
        </p:nvSpPr>
        <p:spPr>
          <a:xfrm>
            <a:off x="109728" y="3621023"/>
            <a:ext cx="11795760" cy="246889"/>
          </a:xfrm>
          <a:prstGeom prst="rect">
            <a:avLst/>
          </a:prstGeom>
          <a:solidFill>
            <a:srgbClr val="1F497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9" name="TextBox 8"/>
          <p:cNvSpPr txBox="1"/>
          <p:nvPr/>
        </p:nvSpPr>
        <p:spPr>
          <a:xfrm>
            <a:off x="192024" y="3639311"/>
            <a:ext cx="11631168" cy="2117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Ensemble Blend Weights  —  3Y Horizon</a:t>
            </a:r>
          </a:p>
        </p:txBody>
      </p:sp>
      <p:graphicFrame>
        <p:nvGraphicFramePr>
          <p:cNvPr id="320" name="Table 9"/>
          <p:cNvGraphicFramePr/>
          <p:nvPr/>
        </p:nvGraphicFramePr>
        <p:xfrm>
          <a:off x="109728" y="3913632"/>
          <a:ext cx="7315201" cy="1792225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2560320"/>
                <a:gridCol w="1554480"/>
                <a:gridCol w="1554480"/>
                <a:gridCol w="1645920"/>
              </a:tblGrid>
              <a:tr h="256032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Company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XGBoost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LightGBM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RandomForest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00206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002060"/>
                          </a:solidFill>
                        </a:rPr>
                        <a:t>Asian Paints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002060"/>
                          </a:solidFill>
                        </a:rPr>
                        <a:t>0.252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002060"/>
                          </a:solidFill>
                        </a:rPr>
                        <a:t>0.277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002060"/>
                          </a:solidFill>
                        </a:rPr>
                        <a:t>0.471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E8EDF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002060"/>
                          </a:solidFill>
                        </a:rPr>
                        <a:t>CIPLA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002060"/>
                          </a:solidFill>
                        </a:rPr>
                        <a:t>0.333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002060"/>
                          </a:solidFill>
                        </a:rPr>
                        <a:t>0.333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002060"/>
                          </a:solidFill>
                        </a:rPr>
                        <a:t>0.333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002060"/>
                          </a:solidFill>
                        </a:rPr>
                        <a:t>HDFC Bank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002060"/>
                          </a:solidFill>
                        </a:rPr>
                        <a:t>0.518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002060"/>
                          </a:solidFill>
                        </a:rPr>
                        <a:t>0.298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002060"/>
                          </a:solidFill>
                        </a:rPr>
                        <a:t>0.184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E8EDF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002060"/>
                          </a:solidFill>
                        </a:rPr>
                        <a:t>ITC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002060"/>
                          </a:solidFill>
                        </a:rPr>
                        <a:t>0.159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002060"/>
                          </a:solidFill>
                        </a:rPr>
                        <a:t>0.097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002060"/>
                          </a:solidFill>
                        </a:rPr>
                        <a:t>0.744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002060"/>
                          </a:solidFill>
                        </a:rPr>
                        <a:t>TCS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002060"/>
                          </a:solidFill>
                        </a:rPr>
                        <a:t>0.113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002060"/>
                          </a:solidFill>
                        </a:rPr>
                        <a:t>0.090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002060"/>
                          </a:solidFill>
                        </a:rPr>
                        <a:t>0.797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E8EDF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002060"/>
                          </a:solidFill>
                        </a:rPr>
                        <a:t>UltraTech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002060"/>
                          </a:solidFill>
                        </a:rPr>
                        <a:t>0.772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002060"/>
                          </a:solidFill>
                        </a:rPr>
                        <a:t>0.166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100">
                          <a:solidFill>
                            <a:srgbClr val="002060"/>
                          </a:solidFill>
                        </a:rPr>
                        <a:t>0.061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1" name="Rectangle 10"/>
          <p:cNvSpPr/>
          <p:nvPr/>
        </p:nvSpPr>
        <p:spPr>
          <a:xfrm>
            <a:off x="7680959" y="3895344"/>
            <a:ext cx="4160521" cy="1920240"/>
          </a:xfrm>
          <a:prstGeom prst="rect">
            <a:avLst/>
          </a:prstGeom>
          <a:solidFill>
            <a:srgbClr val="37864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2" name="TextBox 11"/>
          <p:cNvSpPr txBox="1"/>
          <p:nvPr/>
        </p:nvSpPr>
        <p:spPr>
          <a:xfrm>
            <a:off x="7744967" y="4421901"/>
            <a:ext cx="4032505" cy="1919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 algn="ctr">
              <a:defRPr sz="1000">
                <a:solidFill>
                  <a:srgbClr val="FFFFFF"/>
                </a:solidFill>
              </a:defRPr>
            </a:lvl1pPr>
          </a:lstStyle>
          <a:p>
            <a:pPr/>
            <a:r>
              <a:t>CIPLA — Best 3Y Performer</a:t>
            </a:r>
          </a:p>
        </p:txBody>
      </p:sp>
      <p:sp>
        <p:nvSpPr>
          <p:cNvPr id="323" name="TextBox 12"/>
          <p:cNvSpPr txBox="1"/>
          <p:nvPr/>
        </p:nvSpPr>
        <p:spPr>
          <a:xfrm>
            <a:off x="7744968" y="4500676"/>
            <a:ext cx="4032505" cy="348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 algn="ctr">
              <a:defRPr b="1" sz="2200">
                <a:solidFill>
                  <a:srgbClr val="FFFFFF"/>
                </a:solidFill>
              </a:defRPr>
            </a:lvl1pPr>
          </a:lstStyle>
          <a:p>
            <a:pPr/>
            <a:r>
              <a:t>100.0% Hit Rate</a:t>
            </a:r>
          </a:p>
        </p:txBody>
      </p:sp>
      <p:sp>
        <p:nvSpPr>
          <p:cNvPr id="324" name="TextBox 13"/>
          <p:cNvSpPr txBox="1"/>
          <p:nvPr/>
        </p:nvSpPr>
        <p:spPr>
          <a:xfrm>
            <a:off x="128016" y="5815584"/>
            <a:ext cx="11759184" cy="1891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defRPr sz="1100">
                <a:solidFill>
                  <a:srgbClr val="606060"/>
                </a:solidFill>
              </a:defRPr>
            </a:lvl1pPr>
          </a:lstStyle>
          <a:p>
            <a:pPr/>
            <a:r>
              <a:t>Note: Negative R² is expected — return magnitude prediction is not the objective. Directional accuracy (hit rate) is the signal quality measure.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TextBox 3"/>
          <p:cNvSpPr txBox="1"/>
          <p:nvPr/>
        </p:nvSpPr>
        <p:spPr>
          <a:xfrm>
            <a:off x="109727" y="164591"/>
            <a:ext cx="11731754" cy="4604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defRPr b="1" sz="3200">
                <a:solidFill>
                  <a:srgbClr val="2F5597"/>
                </a:solidFill>
              </a:defRPr>
            </a:lvl1pPr>
          </a:lstStyle>
          <a:p>
            <a:pPr/>
            <a:r>
              <a:t>Deliverable 1  —  Predicted Return Ranking  (Live Inference)</a:t>
            </a:r>
          </a:p>
        </p:txBody>
      </p:sp>
      <p:sp>
        <p:nvSpPr>
          <p:cNvPr id="327" name="Rectangle 4"/>
          <p:cNvSpPr/>
          <p:nvPr/>
        </p:nvSpPr>
        <p:spPr>
          <a:xfrm>
            <a:off x="9143" y="868680"/>
            <a:ext cx="12161522" cy="18289"/>
          </a:xfrm>
          <a:prstGeom prst="rect">
            <a:avLst/>
          </a:prstGeom>
          <a:solidFill>
            <a:srgbClr val="00206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8" name="TextBox 5"/>
          <p:cNvSpPr txBox="1"/>
          <p:nvPr/>
        </p:nvSpPr>
        <p:spPr>
          <a:xfrm>
            <a:off x="128016" y="960119"/>
            <a:ext cx="11759184" cy="2117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defRPr b="1" sz="1200">
                <a:solidFill>
                  <a:srgbClr val="002060"/>
                </a:solidFill>
              </a:defRPr>
            </a:lvl1pPr>
          </a:lstStyle>
          <a:p>
            <a:pPr/>
            <a:r>
              <a:t>BUY threshold: predicted annualised return must exceed the risk-free rate of 6.5% p.a.</a:t>
            </a:r>
          </a:p>
        </p:txBody>
      </p:sp>
      <p:graphicFrame>
        <p:nvGraphicFramePr>
          <p:cNvPr id="329" name="Table 6"/>
          <p:cNvGraphicFramePr/>
          <p:nvPr/>
        </p:nvGraphicFramePr>
        <p:xfrm>
          <a:off x="109728" y="1280160"/>
          <a:ext cx="11741278" cy="2185798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655072"/>
                <a:gridCol w="2322529"/>
                <a:gridCol w="2203425"/>
                <a:gridCol w="1250592"/>
                <a:gridCol w="2203425"/>
                <a:gridCol w="1250592"/>
                <a:gridCol w="1846113"/>
              </a:tblGrid>
              <a:tr h="310896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Rank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Company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1Y Pred. Ann. Return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1Y Signal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3Y Pred. Ann. Return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3Y Signal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Consensus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002060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002060"/>
                          </a:solidFill>
                        </a:rPr>
                        <a:t>1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002060"/>
                          </a:solidFill>
                        </a:rPr>
                        <a:t>HDFC Bank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002060"/>
                          </a:solidFill>
                        </a:rPr>
                        <a:t>−0.03%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002060"/>
                          </a:solidFill>
                        </a:rPr>
                        <a:t>SELL ▼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002060"/>
                          </a:solidFill>
                        </a:rPr>
                        <a:t>−2.47%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002060"/>
                          </a:solidFill>
                        </a:rPr>
                        <a:t>SELL ▼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002060"/>
                          </a:solidFill>
                        </a:rPr>
                        <a:t>STRONG SELL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E8ED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002060"/>
                          </a:solidFill>
                        </a:rPr>
                        <a:t>2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002060"/>
                          </a:solidFill>
                        </a:rPr>
                        <a:t>Asian Paints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002060"/>
                          </a:solidFill>
                        </a:rPr>
                        <a:t>−6.85%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002060"/>
                          </a:solidFill>
                        </a:rPr>
                        <a:t>SELL ▼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002060"/>
                          </a:solidFill>
                        </a:rPr>
                        <a:t>−13.74%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002060"/>
                          </a:solidFill>
                        </a:rPr>
                        <a:t>SELL ▼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002060"/>
                          </a:solidFill>
                        </a:rPr>
                        <a:t>STRONG SELL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002060"/>
                          </a:solidFill>
                        </a:rPr>
                        <a:t>3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002060"/>
                          </a:solidFill>
                        </a:rPr>
                        <a:t>TCS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002060"/>
                          </a:solidFill>
                        </a:rPr>
                        <a:t>−15.61%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002060"/>
                          </a:solidFill>
                        </a:rPr>
                        <a:t>SELL ▼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002060"/>
                          </a:solidFill>
                        </a:rPr>
                        <a:t>−8.14%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002060"/>
                          </a:solidFill>
                        </a:rPr>
                        <a:t>SELL ▼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002060"/>
                          </a:solidFill>
                        </a:rPr>
                        <a:t>STRONG SELL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E8ED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002060"/>
                          </a:solidFill>
                        </a:rPr>
                        <a:t>4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002060"/>
                          </a:solidFill>
                        </a:rPr>
                        <a:t>UltraTech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002060"/>
                          </a:solidFill>
                        </a:rPr>
                        <a:t>−30.18%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002060"/>
                          </a:solidFill>
                        </a:rPr>
                        <a:t>SELL ▼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002060"/>
                          </a:solidFill>
                        </a:rPr>
                        <a:t>−20.96%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002060"/>
                          </a:solidFill>
                        </a:rPr>
                        <a:t>SELL ▼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002060"/>
                          </a:solidFill>
                        </a:rPr>
                        <a:t>STRONG SELL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002060"/>
                          </a:solidFill>
                        </a:rPr>
                        <a:t>5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002060"/>
                          </a:solidFill>
                        </a:rPr>
                        <a:t>CIPLA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002060"/>
                          </a:solidFill>
                        </a:rPr>
                        <a:t>−34.05%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002060"/>
                          </a:solidFill>
                        </a:rPr>
                        <a:t>SELL ▼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002060"/>
                          </a:solidFill>
                        </a:rPr>
                        <a:t>−31.92%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002060"/>
                          </a:solidFill>
                        </a:rPr>
                        <a:t>SELL ▼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002060"/>
                          </a:solidFill>
                        </a:rPr>
                        <a:t>STRONG SELL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E8ED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002060"/>
                          </a:solidFill>
                        </a:rPr>
                        <a:t>6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002060"/>
                          </a:solidFill>
                        </a:rPr>
                        <a:t>ITC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002060"/>
                          </a:solidFill>
                        </a:rPr>
                        <a:t>−34.91%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002060"/>
                          </a:solidFill>
                        </a:rPr>
                        <a:t>SELL ▼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002060"/>
                          </a:solidFill>
                        </a:rPr>
                        <a:t>−25.43%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002060"/>
                          </a:solidFill>
                        </a:rPr>
                        <a:t>SELL ▼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002060"/>
                          </a:solidFill>
                        </a:rPr>
                        <a:t>STRONG SELL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0" name="Rectangle 7"/>
          <p:cNvSpPr/>
          <p:nvPr/>
        </p:nvSpPr>
        <p:spPr>
          <a:xfrm>
            <a:off x="109728" y="3639311"/>
            <a:ext cx="2743201" cy="1234442"/>
          </a:xfrm>
          <a:prstGeom prst="rect">
            <a:avLst/>
          </a:prstGeom>
          <a:solidFill>
            <a:srgbClr val="C0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1" name="TextBox 8"/>
          <p:cNvSpPr txBox="1"/>
          <p:nvPr/>
        </p:nvSpPr>
        <p:spPr>
          <a:xfrm>
            <a:off x="173735" y="3865167"/>
            <a:ext cx="2615185" cy="1919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 algn="ctr">
              <a:defRPr sz="1000">
                <a:solidFill>
                  <a:srgbClr val="FFFFFF"/>
                </a:solidFill>
              </a:defRPr>
            </a:lvl1pPr>
          </a:lstStyle>
          <a:p>
            <a:pPr/>
            <a:r>
              <a:t>All 6 Stocks</a:t>
            </a:r>
          </a:p>
        </p:txBody>
      </p:sp>
      <p:sp>
        <p:nvSpPr>
          <p:cNvPr id="332" name="TextBox 9"/>
          <p:cNvSpPr txBox="1"/>
          <p:nvPr/>
        </p:nvSpPr>
        <p:spPr>
          <a:xfrm>
            <a:off x="173735" y="4093767"/>
            <a:ext cx="2615185" cy="3036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 algn="ctr">
              <a:defRPr b="1" sz="2000">
                <a:solidFill>
                  <a:srgbClr val="FFFFFF"/>
                </a:solidFill>
              </a:defRPr>
            </a:lvl1pPr>
          </a:lstStyle>
          <a:p>
            <a:pPr/>
            <a:r>
              <a:t>STRONG SELL</a:t>
            </a:r>
          </a:p>
        </p:txBody>
      </p:sp>
      <p:sp>
        <p:nvSpPr>
          <p:cNvPr id="333" name="Rectangle 10"/>
          <p:cNvSpPr/>
          <p:nvPr/>
        </p:nvSpPr>
        <p:spPr>
          <a:xfrm>
            <a:off x="2999232" y="3639311"/>
            <a:ext cx="3657601" cy="1234442"/>
          </a:xfrm>
          <a:prstGeom prst="rect">
            <a:avLst/>
          </a:prstGeom>
          <a:solidFill>
            <a:srgbClr val="BF890A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4" name="TextBox 11"/>
          <p:cNvSpPr txBox="1"/>
          <p:nvPr/>
        </p:nvSpPr>
        <p:spPr>
          <a:xfrm>
            <a:off x="3063238" y="3865167"/>
            <a:ext cx="3529585" cy="169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 algn="ctr">
              <a:defRPr sz="900">
                <a:solidFill>
                  <a:srgbClr val="FFFFFF"/>
                </a:solidFill>
              </a:defRPr>
            </a:lvl1pPr>
          </a:lstStyle>
          <a:p>
            <a:pPr/>
            <a:r>
              <a:t>Best Ranked (HDFC Bank)</a:t>
            </a:r>
          </a:p>
        </p:txBody>
      </p:sp>
      <p:sp>
        <p:nvSpPr>
          <p:cNvPr id="335" name="TextBox 12"/>
          <p:cNvSpPr txBox="1"/>
          <p:nvPr/>
        </p:nvSpPr>
        <p:spPr>
          <a:xfrm>
            <a:off x="3063238" y="4093767"/>
            <a:ext cx="3529585" cy="2414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 algn="ctr">
              <a:defRPr b="1" sz="1500">
                <a:solidFill>
                  <a:srgbClr val="FFFFFF"/>
                </a:solidFill>
              </a:defRPr>
            </a:lvl1pPr>
          </a:lstStyle>
          <a:p>
            <a:pPr/>
            <a:r>
              <a:t>−0.03% vs 6.5% RF</a:t>
            </a:r>
          </a:p>
        </p:txBody>
      </p:sp>
      <p:sp>
        <p:nvSpPr>
          <p:cNvPr id="336" name="Rectangle 13"/>
          <p:cNvSpPr/>
          <p:nvPr/>
        </p:nvSpPr>
        <p:spPr>
          <a:xfrm>
            <a:off x="6803135" y="3639311"/>
            <a:ext cx="5029201" cy="1234442"/>
          </a:xfrm>
          <a:prstGeom prst="rect">
            <a:avLst/>
          </a:prstGeom>
          <a:solidFill>
            <a:srgbClr val="00206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7" name="TextBox 14"/>
          <p:cNvSpPr txBox="1"/>
          <p:nvPr/>
        </p:nvSpPr>
        <p:spPr>
          <a:xfrm>
            <a:off x="6867144" y="3865167"/>
            <a:ext cx="4901185" cy="169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 algn="ctr">
              <a:defRPr sz="900">
                <a:solidFill>
                  <a:srgbClr val="FFFFFF"/>
                </a:solidFill>
              </a:defRPr>
            </a:lvl1pPr>
          </a:lstStyle>
          <a:p>
            <a:pPr/>
            <a:r>
              <a:t>Worst Predicted Return</a:t>
            </a:r>
          </a:p>
        </p:txBody>
      </p:sp>
      <p:sp>
        <p:nvSpPr>
          <p:cNvPr id="338" name="TextBox 15"/>
          <p:cNvSpPr txBox="1"/>
          <p:nvPr/>
        </p:nvSpPr>
        <p:spPr>
          <a:xfrm>
            <a:off x="6867144" y="4093767"/>
            <a:ext cx="4901185" cy="2414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 algn="ctr">
              <a:defRPr b="1" sz="1500">
                <a:solidFill>
                  <a:srgbClr val="FFFFFF"/>
                </a:solidFill>
              </a:defRPr>
            </a:lvl1pPr>
          </a:lstStyle>
          <a:p>
            <a:pPr/>
            <a:r>
              <a:t>ITC: −34.91% (1Y)</a:t>
            </a:r>
          </a:p>
        </p:txBody>
      </p:sp>
      <p:sp>
        <p:nvSpPr>
          <p:cNvPr id="339" name="Rectangle 16"/>
          <p:cNvSpPr/>
          <p:nvPr/>
        </p:nvSpPr>
        <p:spPr>
          <a:xfrm>
            <a:off x="109728" y="5120578"/>
            <a:ext cx="11795760" cy="246889"/>
          </a:xfrm>
          <a:prstGeom prst="rect">
            <a:avLst/>
          </a:prstGeom>
          <a:solidFill>
            <a:srgbClr val="1F497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0" name="TextBox 17"/>
          <p:cNvSpPr txBox="1"/>
          <p:nvPr/>
        </p:nvSpPr>
        <p:spPr>
          <a:xfrm>
            <a:off x="160020" y="5138158"/>
            <a:ext cx="11631168" cy="2117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Interpretation</a:t>
            </a:r>
          </a:p>
        </p:txBody>
      </p:sp>
      <p:sp>
        <p:nvSpPr>
          <p:cNvPr id="341" name="TextBox 18"/>
          <p:cNvSpPr txBox="1"/>
          <p:nvPr/>
        </p:nvSpPr>
        <p:spPr>
          <a:xfrm>
            <a:off x="105156" y="5614294"/>
            <a:ext cx="11804904" cy="574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/>
          <a:p>
            <a:pPr>
              <a:defRPr sz="1200">
                <a:solidFill>
                  <a:srgbClr val="002060"/>
                </a:solidFill>
              </a:defRPr>
            </a:pPr>
            <a:r>
              <a:t>  No stock clears the 6.5% risk-free hurdle on either horizon as of Feb 2026.</a:t>
            </a:r>
          </a:p>
          <a:p>
            <a:pPr>
              <a:defRPr sz="1200">
                <a:solidFill>
                  <a:srgbClr val="002060"/>
                </a:solidFill>
              </a:defRPr>
            </a:pPr>
            <a:r>
              <a:t>  High CV hit rates (CIPLA 98%, Asian Paints 75%) make the SELL signals particularly reliable.</a:t>
            </a:r>
          </a:p>
          <a:p>
            <a:pPr>
              <a:defRPr sz="1200">
                <a:solidFill>
                  <a:srgbClr val="002060"/>
                </a:solidFill>
              </a:defRPr>
            </a:pPr>
            <a:r>
              <a:t>  Confidence shrinkage further adjusts returns for models with hit rate ≤ 50% (HDFC Bank, TCS).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TextBox 3"/>
          <p:cNvSpPr txBox="1"/>
          <p:nvPr/>
        </p:nvSpPr>
        <p:spPr>
          <a:xfrm>
            <a:off x="109727" y="164591"/>
            <a:ext cx="11731754" cy="4604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defRPr b="1" sz="3200">
                <a:solidFill>
                  <a:srgbClr val="2F5597"/>
                </a:solidFill>
              </a:defRPr>
            </a:lvl1pPr>
          </a:lstStyle>
          <a:p>
            <a:pPr/>
            <a:r>
              <a:t>Deliverable 2  —  Portfolio Allocation  (Max-Sharpe Optimisation)</a:t>
            </a:r>
          </a:p>
        </p:txBody>
      </p:sp>
      <p:sp>
        <p:nvSpPr>
          <p:cNvPr id="344" name="Rectangle 4"/>
          <p:cNvSpPr/>
          <p:nvPr/>
        </p:nvSpPr>
        <p:spPr>
          <a:xfrm>
            <a:off x="9143" y="868680"/>
            <a:ext cx="12161522" cy="18289"/>
          </a:xfrm>
          <a:prstGeom prst="rect">
            <a:avLst/>
          </a:prstGeom>
          <a:solidFill>
            <a:srgbClr val="00206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5" name="Rectangle 5"/>
          <p:cNvSpPr/>
          <p:nvPr/>
        </p:nvSpPr>
        <p:spPr>
          <a:xfrm>
            <a:off x="109728" y="987552"/>
            <a:ext cx="3657601" cy="1554481"/>
          </a:xfrm>
          <a:prstGeom prst="rect">
            <a:avLst/>
          </a:prstGeom>
          <a:solidFill>
            <a:srgbClr val="1F497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6" name="TextBox 6"/>
          <p:cNvSpPr txBox="1"/>
          <p:nvPr/>
        </p:nvSpPr>
        <p:spPr>
          <a:xfrm>
            <a:off x="173735" y="1283816"/>
            <a:ext cx="3529584" cy="189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 algn="ctr">
              <a:defRPr sz="1100">
                <a:solidFill>
                  <a:srgbClr val="FFFFFF"/>
                </a:solidFill>
              </a:defRPr>
            </a:lvl1pPr>
          </a:lstStyle>
          <a:p>
            <a:pPr/>
            <a:r>
              <a:t>BLENDED PORTFOLIO</a:t>
            </a:r>
          </a:p>
        </p:txBody>
      </p:sp>
      <p:sp>
        <p:nvSpPr>
          <p:cNvPr id="347" name="TextBox 7"/>
          <p:cNvSpPr txBox="1"/>
          <p:nvPr/>
        </p:nvSpPr>
        <p:spPr>
          <a:xfrm>
            <a:off x="173735" y="1512416"/>
            <a:ext cx="3529584" cy="355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 algn="ctr">
              <a:defRPr b="1" sz="2400">
                <a:solidFill>
                  <a:srgbClr val="FFFFFF"/>
                </a:solidFill>
              </a:defRPr>
            </a:lvl1pPr>
          </a:lstStyle>
          <a:p>
            <a:pPr/>
            <a:r>
              <a:t>CASH MODE</a:t>
            </a:r>
          </a:p>
        </p:txBody>
      </p:sp>
      <p:sp>
        <p:nvSpPr>
          <p:cNvPr id="348" name="Rectangle 8"/>
          <p:cNvSpPr/>
          <p:nvPr/>
        </p:nvSpPr>
        <p:spPr>
          <a:xfrm>
            <a:off x="3913632" y="987552"/>
            <a:ext cx="3566160" cy="1554481"/>
          </a:xfrm>
          <a:prstGeom prst="rect">
            <a:avLst/>
          </a:prstGeom>
          <a:solidFill>
            <a:srgbClr val="00206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9" name="TextBox 9"/>
          <p:cNvSpPr txBox="1"/>
          <p:nvPr/>
        </p:nvSpPr>
        <p:spPr>
          <a:xfrm>
            <a:off x="3977640" y="1283816"/>
            <a:ext cx="3438145" cy="189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 algn="ctr">
              <a:defRPr sz="1100">
                <a:solidFill>
                  <a:srgbClr val="FFFFFF"/>
                </a:solidFill>
              </a:defRPr>
            </a:lvl1pPr>
          </a:lstStyle>
          <a:p>
            <a:pPr/>
            <a:r>
              <a:t>1-Year Horizon</a:t>
            </a:r>
          </a:p>
        </p:txBody>
      </p:sp>
      <p:sp>
        <p:nvSpPr>
          <p:cNvPr id="350" name="TextBox 10"/>
          <p:cNvSpPr txBox="1"/>
          <p:nvPr/>
        </p:nvSpPr>
        <p:spPr>
          <a:xfrm>
            <a:off x="3977640" y="1512416"/>
            <a:ext cx="3438145" cy="2965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 algn="ctr">
              <a:defRPr b="1">
                <a:solidFill>
                  <a:srgbClr val="FFFFFF"/>
                </a:solidFill>
              </a:defRPr>
            </a:lvl1pPr>
          </a:lstStyle>
          <a:p>
            <a:pPr/>
            <a:r>
              <a:t>0 stocks qualified</a:t>
            </a:r>
          </a:p>
        </p:txBody>
      </p:sp>
      <p:sp>
        <p:nvSpPr>
          <p:cNvPr id="351" name="Rectangle 11"/>
          <p:cNvSpPr/>
          <p:nvPr/>
        </p:nvSpPr>
        <p:spPr>
          <a:xfrm>
            <a:off x="7626095" y="987552"/>
            <a:ext cx="4297681" cy="1554481"/>
          </a:xfrm>
          <a:prstGeom prst="rect">
            <a:avLst/>
          </a:prstGeom>
          <a:solidFill>
            <a:srgbClr val="00206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2" name="TextBox 12"/>
          <p:cNvSpPr txBox="1"/>
          <p:nvPr/>
        </p:nvSpPr>
        <p:spPr>
          <a:xfrm>
            <a:off x="7690104" y="1283816"/>
            <a:ext cx="4169665" cy="189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 algn="ctr">
              <a:defRPr sz="1100">
                <a:solidFill>
                  <a:srgbClr val="FFFFFF"/>
                </a:solidFill>
              </a:defRPr>
            </a:lvl1pPr>
          </a:lstStyle>
          <a:p>
            <a:pPr/>
            <a:r>
              <a:t>3-Year Horizon</a:t>
            </a:r>
          </a:p>
        </p:txBody>
      </p:sp>
      <p:sp>
        <p:nvSpPr>
          <p:cNvPr id="353" name="TextBox 13"/>
          <p:cNvSpPr txBox="1"/>
          <p:nvPr/>
        </p:nvSpPr>
        <p:spPr>
          <a:xfrm>
            <a:off x="7690104" y="1512416"/>
            <a:ext cx="4169665" cy="2965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 algn="ctr">
              <a:defRPr b="1">
                <a:solidFill>
                  <a:srgbClr val="FFFFFF"/>
                </a:solidFill>
              </a:defRPr>
            </a:lvl1pPr>
          </a:lstStyle>
          <a:p>
            <a:pPr/>
            <a:r>
              <a:t>0 stocks qualified</a:t>
            </a:r>
          </a:p>
        </p:txBody>
      </p:sp>
      <p:sp>
        <p:nvSpPr>
          <p:cNvPr id="354" name="Rectangle 14"/>
          <p:cNvSpPr/>
          <p:nvPr/>
        </p:nvSpPr>
        <p:spPr>
          <a:xfrm>
            <a:off x="77724" y="3037019"/>
            <a:ext cx="11795760" cy="246889"/>
          </a:xfrm>
          <a:prstGeom prst="rect">
            <a:avLst/>
          </a:prstGeom>
          <a:solidFill>
            <a:srgbClr val="1F497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5" name="TextBox 15"/>
          <p:cNvSpPr txBox="1"/>
          <p:nvPr/>
        </p:nvSpPr>
        <p:spPr>
          <a:xfrm>
            <a:off x="89019" y="3077337"/>
            <a:ext cx="11631168" cy="2117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Optimisation Logic</a:t>
            </a:r>
          </a:p>
        </p:txBody>
      </p:sp>
      <p:sp>
        <p:nvSpPr>
          <p:cNvPr id="356" name="TextBox 16"/>
          <p:cNvSpPr txBox="1"/>
          <p:nvPr/>
        </p:nvSpPr>
        <p:spPr>
          <a:xfrm>
            <a:off x="141731" y="3391539"/>
            <a:ext cx="11731754" cy="9907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/>
          <a:p>
            <a:pPr>
              <a:defRPr b="1" sz="1300">
                <a:solidFill>
                  <a:srgbClr val="002060"/>
                </a:solidFill>
              </a:defRPr>
            </a:pPr>
            <a:r>
              <a:t>  Step 1 — Confidence Shrinkage:</a:t>
            </a:r>
          </a:p>
          <a:p>
            <a:pPr>
              <a:defRPr sz="1200">
                <a:solidFill>
                  <a:srgbClr val="002060"/>
                </a:solidFill>
              </a:defRPr>
            </a:pPr>
            <a:r>
              <a:t>    conf = max(0, min(1, (hit_rate − 50%) / 10%))    →    0.0 at hit=50%,  1.0 at hit≥60%</a:t>
            </a:r>
          </a:p>
          <a:p>
            <a:pPr>
              <a:defRPr sz="1200">
                <a:solidFill>
                  <a:srgbClr val="002060"/>
                </a:solidFill>
              </a:defRPr>
            </a:pPr>
            <a:r>
              <a:t>    mu_adj  =  predicted_return  ×  conf</a:t>
            </a:r>
          </a:p>
          <a:p>
            <a:pPr>
              <a:defRPr b="1" sz="1300">
                <a:solidFill>
                  <a:srgbClr val="002060"/>
                </a:solidFill>
              </a:defRPr>
            </a:pPr>
            <a:r>
              <a:t>  Step 2 — BUY Filter:  only stocks with mu_adj &gt; 0 enter the Max-Sharpe SLSQP optimiser</a:t>
            </a:r>
          </a:p>
          <a:p>
            <a:pPr>
              <a:defRPr b="1" sz="1300">
                <a:solidFill>
                  <a:srgbClr val="002060"/>
                </a:solidFill>
              </a:defRPr>
            </a:pPr>
            <a:r>
              <a:t>  Step 3 — Cash Gate:  zero eligible stocks  →  100% capital held as risk-free assets (6.5% p.a.)</a:t>
            </a:r>
          </a:p>
        </p:txBody>
      </p:sp>
      <p:sp>
        <p:nvSpPr>
          <p:cNvPr id="357" name="Rectangle 17"/>
          <p:cNvSpPr/>
          <p:nvPr/>
        </p:nvSpPr>
        <p:spPr>
          <a:xfrm>
            <a:off x="77724" y="4894400"/>
            <a:ext cx="11795760" cy="246889"/>
          </a:xfrm>
          <a:prstGeom prst="rect">
            <a:avLst/>
          </a:prstGeom>
          <a:solidFill>
            <a:srgbClr val="1F497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8" name="TextBox 18"/>
          <p:cNvSpPr txBox="1"/>
          <p:nvPr/>
        </p:nvSpPr>
        <p:spPr>
          <a:xfrm>
            <a:off x="89019" y="4911980"/>
            <a:ext cx="11631168" cy="2117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Practical Implication for Aurora Finance</a:t>
            </a:r>
          </a:p>
        </p:txBody>
      </p:sp>
      <p:sp>
        <p:nvSpPr>
          <p:cNvPr id="359" name="TextBox 19"/>
          <p:cNvSpPr txBox="1"/>
          <p:nvPr/>
        </p:nvSpPr>
        <p:spPr>
          <a:xfrm>
            <a:off x="137160" y="5406525"/>
            <a:ext cx="11740896" cy="4065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/>
          <a:p>
            <a:pPr>
              <a:defRPr sz="1300">
                <a:solidFill>
                  <a:srgbClr val="002060"/>
                </a:solidFill>
              </a:defRPr>
            </a:pPr>
            <a:r>
              <a:t>  Aurora Finance should hold 100% of the Financial Markets allocation in risk-free instruments, (T-bills / liquid funds at 6.5% p.a.) as of the Feb 2026 inference date.</a:t>
            </a:r>
          </a:p>
          <a:p>
            <a:pPr>
              <a:defRPr sz="1300">
                <a:solidFill>
                  <a:srgbClr val="002060"/>
                </a:solidFill>
              </a:defRPr>
            </a:pPr>
            <a:r>
              <a:t>  Re-entry trigger: re-run optimisation when ≥1 stock's ensemble hit rate exceeds 60%,AND the model predicts an annualised return above the 6.5% risk-free benchmark.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TextBox 3"/>
          <p:cNvSpPr txBox="1"/>
          <p:nvPr/>
        </p:nvSpPr>
        <p:spPr>
          <a:xfrm>
            <a:off x="109727" y="164591"/>
            <a:ext cx="11731754" cy="4604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defRPr b="1" sz="3200">
                <a:solidFill>
                  <a:srgbClr val="2F5597"/>
                </a:solidFill>
              </a:defRPr>
            </a:lvl1pPr>
          </a:lstStyle>
          <a:p>
            <a:pPr/>
            <a:r>
              <a:t>Deliverable 3  —  Portfolio Backtest  (Feb 2024 – Feb 2026)</a:t>
            </a:r>
          </a:p>
        </p:txBody>
      </p:sp>
      <p:sp>
        <p:nvSpPr>
          <p:cNvPr id="362" name="Rectangle 4"/>
          <p:cNvSpPr/>
          <p:nvPr/>
        </p:nvSpPr>
        <p:spPr>
          <a:xfrm>
            <a:off x="9143" y="868680"/>
            <a:ext cx="12161522" cy="18289"/>
          </a:xfrm>
          <a:prstGeom prst="rect">
            <a:avLst/>
          </a:prstGeom>
          <a:solidFill>
            <a:srgbClr val="00206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3" name="Rectangle 6"/>
          <p:cNvSpPr/>
          <p:nvPr/>
        </p:nvSpPr>
        <p:spPr>
          <a:xfrm>
            <a:off x="109728" y="1280160"/>
            <a:ext cx="3383280" cy="1417321"/>
          </a:xfrm>
          <a:prstGeom prst="rect">
            <a:avLst/>
          </a:prstGeom>
          <a:solidFill>
            <a:srgbClr val="C0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4" name="TextBox 7"/>
          <p:cNvSpPr txBox="1"/>
          <p:nvPr/>
        </p:nvSpPr>
        <p:spPr>
          <a:xfrm>
            <a:off x="173735" y="1546249"/>
            <a:ext cx="3255266" cy="189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 algn="ctr">
              <a:defRPr sz="1100">
                <a:solidFill>
                  <a:srgbClr val="FFFFFF"/>
                </a:solidFill>
              </a:defRPr>
            </a:lvl1pPr>
          </a:lstStyle>
          <a:p>
            <a:pPr/>
            <a:r>
              <a:t>Equal-Weight Market</a:t>
            </a:r>
          </a:p>
        </p:txBody>
      </p:sp>
      <p:sp>
        <p:nvSpPr>
          <p:cNvPr id="365" name="TextBox 8"/>
          <p:cNvSpPr txBox="1"/>
          <p:nvPr/>
        </p:nvSpPr>
        <p:spPr>
          <a:xfrm>
            <a:off x="173735" y="1774849"/>
            <a:ext cx="3255266" cy="401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 algn="ctr">
              <a:defRPr b="1" sz="2600">
                <a:solidFill>
                  <a:srgbClr val="FFFFFF"/>
                </a:solidFill>
              </a:defRPr>
            </a:lvl1pPr>
          </a:lstStyle>
          <a:p>
            <a:pPr/>
            <a:r>
              <a:t>−21.40%</a:t>
            </a:r>
          </a:p>
        </p:txBody>
      </p:sp>
      <p:sp>
        <p:nvSpPr>
          <p:cNvPr id="366" name="Rectangle 9"/>
          <p:cNvSpPr/>
          <p:nvPr/>
        </p:nvSpPr>
        <p:spPr>
          <a:xfrm>
            <a:off x="3657600" y="1280160"/>
            <a:ext cx="3383280" cy="1417321"/>
          </a:xfrm>
          <a:prstGeom prst="rect">
            <a:avLst/>
          </a:prstGeom>
          <a:solidFill>
            <a:srgbClr val="37864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7" name="TextBox 10"/>
          <p:cNvSpPr txBox="1"/>
          <p:nvPr/>
        </p:nvSpPr>
        <p:spPr>
          <a:xfrm>
            <a:off x="3721608" y="1546249"/>
            <a:ext cx="3255265" cy="189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 algn="ctr">
              <a:defRPr sz="1100">
                <a:solidFill>
                  <a:srgbClr val="FFFFFF"/>
                </a:solidFill>
              </a:defRPr>
            </a:lvl1pPr>
          </a:lstStyle>
          <a:p>
            <a:pPr/>
            <a:r>
              <a:t>Cash (Risk-Free 6.5% p.a.)</a:t>
            </a:r>
          </a:p>
        </p:txBody>
      </p:sp>
      <p:sp>
        <p:nvSpPr>
          <p:cNvPr id="368" name="TextBox 11"/>
          <p:cNvSpPr txBox="1"/>
          <p:nvPr/>
        </p:nvSpPr>
        <p:spPr>
          <a:xfrm>
            <a:off x="3721608" y="1774849"/>
            <a:ext cx="3255265" cy="401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 algn="ctr">
              <a:defRPr b="1" sz="2600">
                <a:solidFill>
                  <a:srgbClr val="FFFFFF"/>
                </a:solidFill>
              </a:defRPr>
            </a:lvl1pPr>
          </a:lstStyle>
          <a:p>
            <a:pPr/>
            <a:r>
              <a:t>+14.50%</a:t>
            </a:r>
          </a:p>
        </p:txBody>
      </p:sp>
      <p:sp>
        <p:nvSpPr>
          <p:cNvPr id="369" name="Rectangle 12"/>
          <p:cNvSpPr/>
          <p:nvPr/>
        </p:nvSpPr>
        <p:spPr>
          <a:xfrm>
            <a:off x="7205471" y="1280160"/>
            <a:ext cx="4700017" cy="1417321"/>
          </a:xfrm>
          <a:prstGeom prst="rect">
            <a:avLst/>
          </a:prstGeom>
          <a:solidFill>
            <a:srgbClr val="1F497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0" name="TextBox 13"/>
          <p:cNvSpPr txBox="1"/>
          <p:nvPr/>
        </p:nvSpPr>
        <p:spPr>
          <a:xfrm>
            <a:off x="7269480" y="1546249"/>
            <a:ext cx="4572001" cy="189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 algn="ctr">
              <a:defRPr sz="1100">
                <a:solidFill>
                  <a:srgbClr val="FFFFFF"/>
                </a:solidFill>
              </a:defRPr>
            </a:lvl1pPr>
          </a:lstStyle>
          <a:p>
            <a:pPr/>
            <a:r>
              <a:t>Cash Outperformance</a:t>
            </a:r>
          </a:p>
        </p:txBody>
      </p:sp>
      <p:sp>
        <p:nvSpPr>
          <p:cNvPr id="371" name="TextBox 14"/>
          <p:cNvSpPr txBox="1"/>
          <p:nvPr/>
        </p:nvSpPr>
        <p:spPr>
          <a:xfrm>
            <a:off x="7269480" y="1774849"/>
            <a:ext cx="4572001" cy="401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 algn="ctr">
              <a:defRPr b="1" sz="2600">
                <a:solidFill>
                  <a:srgbClr val="FFFFFF"/>
                </a:solidFill>
              </a:defRPr>
            </a:lvl1pPr>
          </a:lstStyle>
          <a:p>
            <a:pPr/>
            <a:r>
              <a:t>+35.90 ppts</a:t>
            </a:r>
          </a:p>
        </p:txBody>
      </p:sp>
      <p:sp>
        <p:nvSpPr>
          <p:cNvPr id="372" name="Rectangle 15"/>
          <p:cNvSpPr/>
          <p:nvPr/>
        </p:nvSpPr>
        <p:spPr>
          <a:xfrm>
            <a:off x="109728" y="2922751"/>
            <a:ext cx="11795760" cy="246889"/>
          </a:xfrm>
          <a:prstGeom prst="rect">
            <a:avLst/>
          </a:prstGeom>
          <a:solidFill>
            <a:srgbClr val="1F497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3" name="TextBox 16"/>
          <p:cNvSpPr txBox="1"/>
          <p:nvPr/>
        </p:nvSpPr>
        <p:spPr>
          <a:xfrm>
            <a:off x="160020" y="2965871"/>
            <a:ext cx="11631168" cy="2117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Strategy Comparison Summary</a:t>
            </a:r>
          </a:p>
        </p:txBody>
      </p:sp>
      <p:graphicFrame>
        <p:nvGraphicFramePr>
          <p:cNvPr id="374" name="Table 17"/>
          <p:cNvGraphicFramePr/>
          <p:nvPr/>
        </p:nvGraphicFramePr>
        <p:xfrm>
          <a:off x="109728" y="3440393"/>
          <a:ext cx="11805285" cy="1253110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3271093"/>
                <a:gridCol w="2577224"/>
                <a:gridCol w="2577224"/>
                <a:gridCol w="3370217"/>
              </a:tblGrid>
              <a:tr h="310896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Strategy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Cumulative Return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Annualised Return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Max Drawdown (approx)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002060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002060"/>
                          </a:solidFill>
                        </a:rPr>
                        <a:t>Equal-Weight Market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002060"/>
                          </a:solidFill>
                        </a:rPr>
                        <a:t>−21.40%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002060"/>
                          </a:solidFill>
                        </a:rPr>
                        <a:t>−11.2% p.a.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002060"/>
                          </a:solidFill>
                        </a:rPr>
                        <a:t>High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E8ED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002060"/>
                          </a:solidFill>
                        </a:rPr>
                        <a:t>Cash (Risk-Free)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002060"/>
                          </a:solidFill>
                        </a:rPr>
                        <a:t>+14.50%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002060"/>
                          </a:solidFill>
                        </a:rPr>
                        <a:t> +6.9% p.a.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002060"/>
                          </a:solidFill>
                        </a:rPr>
                        <a:t>Zero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002060"/>
                          </a:solidFill>
                        </a:rPr>
                        <a:t>Cash Outperformance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002060"/>
                          </a:solidFill>
                        </a:rPr>
                        <a:t>+35.90 ppts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002060"/>
                          </a:solidFill>
                        </a:rPr>
                        <a:t>—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002060"/>
                          </a:solidFill>
                        </a:rPr>
                        <a:t>—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E8EDF7"/>
                    </a:solidFill>
                  </a:tcPr>
                </a:tc>
              </a:tr>
            </a:tbl>
          </a:graphicData>
        </a:graphic>
      </p:graphicFrame>
      <p:sp>
        <p:nvSpPr>
          <p:cNvPr id="375" name="Rectangle 18"/>
          <p:cNvSpPr/>
          <p:nvPr/>
        </p:nvSpPr>
        <p:spPr>
          <a:xfrm>
            <a:off x="109728" y="4934372"/>
            <a:ext cx="11795760" cy="246889"/>
          </a:xfrm>
          <a:prstGeom prst="rect">
            <a:avLst/>
          </a:prstGeom>
          <a:solidFill>
            <a:srgbClr val="1F497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6" name="TextBox 19"/>
          <p:cNvSpPr txBox="1"/>
          <p:nvPr/>
        </p:nvSpPr>
        <p:spPr>
          <a:xfrm>
            <a:off x="192024" y="4932358"/>
            <a:ext cx="11631168" cy="2117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Key Observations</a:t>
            </a:r>
          </a:p>
        </p:txBody>
      </p:sp>
      <p:sp>
        <p:nvSpPr>
          <p:cNvPr id="377" name="TextBox 20"/>
          <p:cNvSpPr txBox="1"/>
          <p:nvPr/>
        </p:nvSpPr>
        <p:spPr>
          <a:xfrm>
            <a:off x="96012" y="5424877"/>
            <a:ext cx="11759185" cy="812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/>
          <a:p>
            <a:pPr>
              <a:defRPr sz="1300">
                <a:solidFill>
                  <a:srgbClr val="002060"/>
                </a:solidFill>
              </a:defRPr>
            </a:pPr>
            <a:r>
              <a:t>  • Market lost value from the first month (Feb 2024) and never recovered to parity across 24 months</a:t>
            </a:r>
          </a:p>
          <a:p>
            <a:pPr>
              <a:defRPr sz="1300">
                <a:solidFill>
                  <a:srgbClr val="002060"/>
                </a:solidFill>
              </a:defRPr>
            </a:pPr>
            <a:r>
              <a:t>  • Cash compounded steadily at 6.5% p.a., widening the lead every month</a:t>
            </a:r>
          </a:p>
          <a:p>
            <a:pPr>
              <a:defRPr sz="1300">
                <a:solidFill>
                  <a:srgbClr val="002060"/>
                </a:solidFill>
              </a:defRPr>
            </a:pPr>
            <a:r>
              <a:t>  • Model's SELL signals across all 6 stocks correctly anticipated the 2-year market decline</a:t>
            </a:r>
          </a:p>
          <a:p>
            <a:pPr>
              <a:defRPr sz="1300">
                <a:solidFill>
                  <a:srgbClr val="002060"/>
                </a:solidFill>
              </a:defRPr>
            </a:pPr>
            <a:r>
              <a:t>  • CIPLA (100% 3Y hit rate) and Asian Paints (81.5% 3Y hit) were strongest signal contributors</a:t>
            </a:r>
          </a:p>
        </p:txBody>
      </p:sp>
      <p:sp>
        <p:nvSpPr>
          <p:cNvPr id="378" name="Rectangle 15"/>
          <p:cNvSpPr/>
          <p:nvPr/>
        </p:nvSpPr>
        <p:spPr>
          <a:xfrm>
            <a:off x="109728" y="962212"/>
            <a:ext cx="11795760" cy="246889"/>
          </a:xfrm>
          <a:prstGeom prst="rect">
            <a:avLst/>
          </a:prstGeom>
          <a:solidFill>
            <a:srgbClr val="1F497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9" name="TextBox 16"/>
          <p:cNvSpPr txBox="1"/>
          <p:nvPr/>
        </p:nvSpPr>
        <p:spPr>
          <a:xfrm>
            <a:off x="192024" y="991416"/>
            <a:ext cx="11631168" cy="2117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Model recommended CASH. Backtest compares hypothetical equal-weight market vs cash.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TextBox 3"/>
          <p:cNvSpPr txBox="1"/>
          <p:nvPr/>
        </p:nvSpPr>
        <p:spPr>
          <a:xfrm>
            <a:off x="109727" y="164591"/>
            <a:ext cx="11731754" cy="9557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defRPr b="1" sz="3200">
                <a:solidFill>
                  <a:srgbClr val="2F5597"/>
                </a:solidFill>
              </a:defRPr>
            </a:lvl1pPr>
          </a:lstStyle>
          <a:p>
            <a:pPr/>
            <a:r>
              <a:t>Out-of-Sample Model Backtest — 1Y Horizon (Last Fold: Apr 2023- 2024)</a:t>
            </a:r>
          </a:p>
        </p:txBody>
      </p:sp>
      <p:sp>
        <p:nvSpPr>
          <p:cNvPr id="382" name="Rectangle 4"/>
          <p:cNvSpPr/>
          <p:nvPr/>
        </p:nvSpPr>
        <p:spPr>
          <a:xfrm>
            <a:off x="9143" y="868680"/>
            <a:ext cx="12161522" cy="18289"/>
          </a:xfrm>
          <a:prstGeom prst="rect">
            <a:avLst/>
          </a:prstGeom>
          <a:solidFill>
            <a:srgbClr val="00206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83" name="TextBox 5"/>
          <p:cNvSpPr txBox="1"/>
          <p:nvPr/>
        </p:nvSpPr>
        <p:spPr>
          <a:xfrm>
            <a:off x="128016" y="1180898"/>
            <a:ext cx="11759184" cy="2117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defRPr b="1" sz="1200">
                <a:solidFill>
                  <a:srgbClr val="002060"/>
                </a:solidFill>
              </a:defRPr>
            </a:lvl1pPr>
          </a:lstStyle>
          <a:p>
            <a:pPr/>
            <a:r>
              <a:t>Actual annualised returns vs model directional hit rate in the most recent held-out test fold.</a:t>
            </a:r>
          </a:p>
        </p:txBody>
      </p:sp>
      <p:graphicFrame>
        <p:nvGraphicFramePr>
          <p:cNvPr id="384" name="Table 6"/>
          <p:cNvGraphicFramePr/>
          <p:nvPr/>
        </p:nvGraphicFramePr>
        <p:xfrm>
          <a:off x="128016" y="1532989"/>
          <a:ext cx="11768709" cy="2185798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1993082"/>
                <a:gridCol w="1793773"/>
                <a:gridCol w="1594465"/>
                <a:gridCol w="996541"/>
                <a:gridCol w="5381321"/>
              </a:tblGrid>
              <a:tr h="310896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Company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Actual Ann. Return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Model Hit Rate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RMSE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</a:rPr>
                        <a:t>Signal Correct?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002060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002060"/>
                          </a:solidFill>
                        </a:rPr>
                        <a:t>Asian Paints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002060"/>
                          </a:solidFill>
                        </a:rPr>
                        <a:t>−7.89%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002060"/>
                          </a:solidFill>
                        </a:rPr>
                        <a:t>75.4%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002060"/>
                          </a:solidFill>
                        </a:rPr>
                        <a:t>0.139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002060"/>
                          </a:solidFill>
                        </a:rPr>
                        <a:t>Yes (predicted negative, was negative)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E8ED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002060"/>
                          </a:solidFill>
                        </a:rPr>
                        <a:t>CIPLA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002060"/>
                          </a:solidFill>
                        </a:rPr>
                        <a:t>−6.75%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002060"/>
                          </a:solidFill>
                        </a:rPr>
                        <a:t>87.7%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002060"/>
                          </a:solidFill>
                        </a:rPr>
                        <a:t>0.267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002060"/>
                          </a:solidFill>
                        </a:rPr>
                        <a:t>Yes (predicted negative, was negative)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002060"/>
                          </a:solidFill>
                        </a:rPr>
                        <a:t>HDFC Bank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002060"/>
                          </a:solidFill>
                        </a:rPr>
                        <a:t>+14.89%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002060"/>
                          </a:solidFill>
                        </a:rPr>
                        <a:t>3.6%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002060"/>
                          </a:solidFill>
                        </a:rPr>
                        <a:t>0.224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002060"/>
                          </a:solidFill>
                        </a:rPr>
                        <a:t>No  (predicted negative, was positive)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E8ED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002060"/>
                          </a:solidFill>
                        </a:rPr>
                        <a:t>ITC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002060"/>
                          </a:solidFill>
                        </a:rPr>
                        <a:t>−19.78%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002060"/>
                          </a:solidFill>
                        </a:rPr>
                        <a:t>100.0%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002060"/>
                          </a:solidFill>
                        </a:rPr>
                        <a:t>0.191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002060"/>
                          </a:solidFill>
                        </a:rPr>
                        <a:t>Yes — 100% directional accuracy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002060"/>
                          </a:solidFill>
                        </a:rPr>
                        <a:t>TCS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002060"/>
                          </a:solidFill>
                        </a:rPr>
                        <a:t>−16.12%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002060"/>
                          </a:solidFill>
                        </a:rPr>
                        <a:t>100.0%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002060"/>
                          </a:solidFill>
                        </a:rPr>
                        <a:t>0.118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002060"/>
                          </a:solidFill>
                        </a:rPr>
                        <a:t>Yes — 100% directional accuracy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E8ED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002060"/>
                          </a:solidFill>
                        </a:rPr>
                        <a:t>UltraTech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002060"/>
                          </a:solidFill>
                        </a:rPr>
                        <a:t>+0.28%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002060"/>
                          </a:solidFill>
                        </a:rPr>
                        <a:t>83.7%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002060"/>
                          </a:solidFill>
                        </a:rPr>
                        <a:t>0.337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002060"/>
                          </a:solidFill>
                        </a:rPr>
                        <a:t>Borderline (near zero)</a:t>
                      </a:r>
                    </a:p>
                  </a:txBody>
                  <a:tcPr marL="18288" marR="18288" marT="18288" marB="18288" anchor="t" anchorCtr="0" horzOverflow="overflow">
                    <a:lnL>
                      <a:solidFill>
                        <a:srgbClr val="002060"/>
                      </a:solidFill>
                    </a:lnL>
                    <a:lnR>
                      <a:solidFill>
                        <a:srgbClr val="002060"/>
                      </a:solidFill>
                    </a:lnR>
                    <a:lnT>
                      <a:solidFill>
                        <a:srgbClr val="002060"/>
                      </a:solidFill>
                    </a:lnT>
                    <a:lnB>
                      <a:solidFill>
                        <a:srgbClr val="00206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85" name="Rectangle 7"/>
          <p:cNvSpPr/>
          <p:nvPr/>
        </p:nvSpPr>
        <p:spPr>
          <a:xfrm>
            <a:off x="109728" y="3849623"/>
            <a:ext cx="11795760" cy="246889"/>
          </a:xfrm>
          <a:prstGeom prst="rect">
            <a:avLst/>
          </a:prstGeom>
          <a:solidFill>
            <a:srgbClr val="1F497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86" name="TextBox 9"/>
          <p:cNvSpPr txBox="1"/>
          <p:nvPr/>
        </p:nvSpPr>
        <p:spPr>
          <a:xfrm>
            <a:off x="109067" y="4512491"/>
            <a:ext cx="11733074" cy="1828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/>
          <a:p>
            <a:pPr>
              <a:defRPr b="1" sz="1300">
                <a:solidFill>
                  <a:srgbClr val="002060"/>
                </a:solidFill>
              </a:defRPr>
            </a:pPr>
            <a:r>
              <a:t>  High hit rate ≠ positive realised return:</a:t>
            </a:r>
          </a:p>
          <a:p>
            <a:pPr>
              <a:defRPr sz="1300">
                <a:solidFill>
                  <a:srgbClr val="002060"/>
                </a:solidFill>
              </a:defRPr>
            </a:pPr>
            <a:r>
              <a:t>    CIPLA had 87.7% hit rate but −6.75% actual return — it correctly predicted the direction (down)</a:t>
            </a:r>
          </a:p>
          <a:p>
            <a:pPr>
              <a:defRPr sz="1300">
                <a:solidFill>
                  <a:srgbClr val="002060"/>
                </a:solidFill>
              </a:defRPr>
            </a:pPr>
            <a:r>
              <a:t>    of daily moves, even though the stock fell overall.</a:t>
            </a:r>
          </a:p>
          <a:p>
            <a:pPr>
              <a:defRPr b="1" sz="1300">
                <a:solidFill>
                  <a:srgbClr val="002060"/>
                </a:solidFill>
              </a:defRPr>
            </a:pPr>
            <a:r>
              <a:t>  HDFC Bank anomaly:</a:t>
            </a:r>
          </a:p>
          <a:p>
            <a:pPr>
              <a:defRPr sz="1300">
                <a:solidFill>
                  <a:srgbClr val="002060"/>
                </a:solidFill>
              </a:defRPr>
            </a:pPr>
            <a:r>
              <a:t>    Lowest hit rate (3.6%) — model consistently predicted down but stock delivered +14.89%.</a:t>
            </a:r>
          </a:p>
          <a:p>
            <a:pPr>
              <a:defRPr sz="1300">
                <a:solidFill>
                  <a:srgbClr val="002060"/>
                </a:solidFill>
              </a:defRPr>
            </a:pPr>
            <a:r>
              <a:t>    Confidence shrinkage effectively zeroes out HDFC Bank's signal weight in the portfolio.</a:t>
            </a:r>
          </a:p>
          <a:p>
            <a:pPr>
              <a:defRPr b="1" sz="1300">
                <a:solidFill>
                  <a:srgbClr val="002060"/>
                </a:solidFill>
              </a:defRPr>
            </a:pPr>
            <a:r>
              <a:t>  Feature importance:</a:t>
            </a:r>
          </a:p>
          <a:p>
            <a:pPr>
              <a:defRPr sz="1300">
                <a:solidFill>
                  <a:srgbClr val="002060"/>
                </a:solidFill>
              </a:defRPr>
            </a:pPr>
            <a:r>
              <a:t>    Long-horizon trend features dominate (47–55% combined weight across all models).</a:t>
            </a:r>
          </a:p>
          <a:p>
            <a:pPr>
              <a:defRPr sz="1300">
                <a:solidFill>
                  <a:srgbClr val="002060"/>
                </a:solidFill>
              </a:defRPr>
            </a:pPr>
            <a:r>
              <a:t>    Macro features contribute ~17%; short-horizon price features ~28%.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TextBox 3"/>
          <p:cNvSpPr txBox="1"/>
          <p:nvPr/>
        </p:nvSpPr>
        <p:spPr>
          <a:xfrm>
            <a:off x="109727" y="164591"/>
            <a:ext cx="11731754" cy="4604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defRPr b="1" sz="3200">
                <a:solidFill>
                  <a:srgbClr val="2F5597"/>
                </a:solidFill>
              </a:defRPr>
            </a:lvl1pPr>
          </a:lstStyle>
          <a:p>
            <a:pPr/>
            <a:r>
              <a:t>Risks, Limitations &amp; Recommendations</a:t>
            </a:r>
          </a:p>
        </p:txBody>
      </p:sp>
      <p:sp>
        <p:nvSpPr>
          <p:cNvPr id="389" name="Rectangle 4"/>
          <p:cNvSpPr/>
          <p:nvPr/>
        </p:nvSpPr>
        <p:spPr>
          <a:xfrm>
            <a:off x="9143" y="868680"/>
            <a:ext cx="12161522" cy="18289"/>
          </a:xfrm>
          <a:prstGeom prst="rect">
            <a:avLst/>
          </a:prstGeom>
          <a:solidFill>
            <a:srgbClr val="00206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90" name="Rectangle 5"/>
          <p:cNvSpPr/>
          <p:nvPr/>
        </p:nvSpPr>
        <p:spPr>
          <a:xfrm>
            <a:off x="109728" y="960119"/>
            <a:ext cx="5669280" cy="246889"/>
          </a:xfrm>
          <a:prstGeom prst="rect">
            <a:avLst/>
          </a:prstGeom>
          <a:solidFill>
            <a:srgbClr val="1F497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91" name="TextBox 6"/>
          <p:cNvSpPr txBox="1"/>
          <p:nvPr/>
        </p:nvSpPr>
        <p:spPr>
          <a:xfrm>
            <a:off x="192023" y="978408"/>
            <a:ext cx="5504689" cy="2117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Risks &amp; Limitations</a:t>
            </a:r>
          </a:p>
        </p:txBody>
      </p:sp>
      <p:sp>
        <p:nvSpPr>
          <p:cNvPr id="392" name="Rectangle 7"/>
          <p:cNvSpPr/>
          <p:nvPr/>
        </p:nvSpPr>
        <p:spPr>
          <a:xfrm>
            <a:off x="5943600" y="960119"/>
            <a:ext cx="6126480" cy="246889"/>
          </a:xfrm>
          <a:prstGeom prst="rect">
            <a:avLst/>
          </a:prstGeom>
          <a:solidFill>
            <a:srgbClr val="1F497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93" name="TextBox 8"/>
          <p:cNvSpPr txBox="1"/>
          <p:nvPr/>
        </p:nvSpPr>
        <p:spPr>
          <a:xfrm>
            <a:off x="6025896" y="978408"/>
            <a:ext cx="5961889" cy="2117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Recommendations</a:t>
            </a:r>
          </a:p>
        </p:txBody>
      </p:sp>
      <p:sp>
        <p:nvSpPr>
          <p:cNvPr id="394" name="TextBox 9"/>
          <p:cNvSpPr txBox="1"/>
          <p:nvPr/>
        </p:nvSpPr>
        <p:spPr>
          <a:xfrm>
            <a:off x="164591" y="1252727"/>
            <a:ext cx="5522977" cy="170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sz="1100">
                <a:solidFill>
                  <a:srgbClr val="002060"/>
                </a:solidFill>
              </a:defRPr>
            </a:lvl1pPr>
          </a:lstStyle>
          <a:p>
            <a:pPr/>
            <a:r>
              <a:t>  1.  Small universe: 6 stocks — concentrated exposure, any large-cap shock has outsized impact</a:t>
            </a:r>
          </a:p>
        </p:txBody>
      </p:sp>
      <p:sp>
        <p:nvSpPr>
          <p:cNvPr id="395" name="TextBox 10"/>
          <p:cNvSpPr txBox="1"/>
          <p:nvPr/>
        </p:nvSpPr>
        <p:spPr>
          <a:xfrm>
            <a:off x="5998464" y="1252727"/>
            <a:ext cx="5980177" cy="170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sz="1100">
                <a:solidFill>
                  <a:srgbClr val="002060"/>
                </a:solidFill>
              </a:defRPr>
            </a:lvl1pPr>
          </a:lstStyle>
          <a:p>
            <a:pPr/>
            <a:r>
              <a:t>  1.  Expand to 15–20 NSE large-caps to reduce concentration risk</a:t>
            </a:r>
          </a:p>
        </p:txBody>
      </p:sp>
      <p:sp>
        <p:nvSpPr>
          <p:cNvPr id="396" name="TextBox 11"/>
          <p:cNvSpPr txBox="1"/>
          <p:nvPr/>
        </p:nvSpPr>
        <p:spPr>
          <a:xfrm>
            <a:off x="164591" y="1554480"/>
            <a:ext cx="5522977" cy="3359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sz="1100">
                <a:solidFill>
                  <a:srgbClr val="002060"/>
                </a:solidFill>
              </a:defRPr>
            </a:lvl1pPr>
          </a:lstStyle>
          <a:p>
            <a:pPr/>
            <a:r>
              <a:t>  2.  R² consistently negative: ensemble predicts direction, not magnitude; position sizing on raw return estimates would be unreliable</a:t>
            </a:r>
          </a:p>
        </p:txBody>
      </p:sp>
      <p:sp>
        <p:nvSpPr>
          <p:cNvPr id="397" name="TextBox 12"/>
          <p:cNvSpPr txBox="1"/>
          <p:nvPr/>
        </p:nvSpPr>
        <p:spPr>
          <a:xfrm>
            <a:off x="5998464" y="1554480"/>
            <a:ext cx="5980177" cy="1708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sz="1100">
                <a:solidFill>
                  <a:srgbClr val="002060"/>
                </a:solidFill>
              </a:defRPr>
            </a:lvl1pPr>
          </a:lstStyle>
          <a:p>
            <a:pPr/>
            <a:r>
              <a:t>  2.  Add fundamental features: P/E, EV/EBITDA, earnings revisions, analyst upgrades</a:t>
            </a:r>
          </a:p>
        </p:txBody>
      </p:sp>
      <p:sp>
        <p:nvSpPr>
          <p:cNvPr id="398" name="TextBox 13"/>
          <p:cNvSpPr txBox="1"/>
          <p:nvPr/>
        </p:nvSpPr>
        <p:spPr>
          <a:xfrm>
            <a:off x="164591" y="2021332"/>
            <a:ext cx="5522977" cy="1708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sz="1100">
                <a:solidFill>
                  <a:srgbClr val="002060"/>
                </a:solidFill>
              </a:defRPr>
            </a:lvl1pPr>
          </a:lstStyle>
          <a:p>
            <a:pPr/>
            <a:r>
              <a:t>  3.  Macro data refreshes quarterly: limited short-horizon relevance for macro features</a:t>
            </a:r>
          </a:p>
        </p:txBody>
      </p:sp>
      <p:sp>
        <p:nvSpPr>
          <p:cNvPr id="399" name="TextBox 14"/>
          <p:cNvSpPr txBox="1"/>
          <p:nvPr/>
        </p:nvSpPr>
        <p:spPr>
          <a:xfrm>
            <a:off x="5998464" y="1856232"/>
            <a:ext cx="5980177" cy="3359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sz="1100">
                <a:solidFill>
                  <a:srgbClr val="002060"/>
                </a:solidFill>
              </a:defRPr>
            </a:lvl1pPr>
          </a:lstStyle>
          <a:p>
            <a:pPr/>
            <a:r>
              <a:t>  3.  Re-entry trigger: automate monitoring — when trailing 3-month hit rate of any stock exceeds 55%, re-run optimisation</a:t>
            </a:r>
          </a:p>
        </p:txBody>
      </p:sp>
      <p:sp>
        <p:nvSpPr>
          <p:cNvPr id="400" name="TextBox 15"/>
          <p:cNvSpPr txBox="1"/>
          <p:nvPr/>
        </p:nvSpPr>
        <p:spPr>
          <a:xfrm>
            <a:off x="164591" y="2323084"/>
            <a:ext cx="5522977" cy="1708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sz="1100">
                <a:solidFill>
                  <a:srgbClr val="002060"/>
                </a:solidFill>
              </a:defRPr>
            </a:lvl1pPr>
          </a:lstStyle>
          <a:p>
            <a:pPr/>
            <a:r>
              <a:t>  4.  Single asset class: no bonds, REITs, or international diversification considered</a:t>
            </a:r>
          </a:p>
        </p:txBody>
      </p:sp>
      <p:sp>
        <p:nvSpPr>
          <p:cNvPr id="401" name="TextBox 16"/>
          <p:cNvSpPr txBox="1"/>
          <p:nvPr/>
        </p:nvSpPr>
        <p:spPr>
          <a:xfrm>
            <a:off x="5998464" y="2323084"/>
            <a:ext cx="5980177" cy="3359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sz="1100">
                <a:solidFill>
                  <a:srgbClr val="002060"/>
                </a:solidFill>
              </a:defRPr>
            </a:lvl1pPr>
          </a:lstStyle>
          <a:p>
            <a:pPr/>
            <a:r>
              <a:t>  4.  Integrate sentiment signals (options implied volatility skew from Module 4) as short-horizon ensemble features</a:t>
            </a:r>
          </a:p>
        </p:txBody>
      </p:sp>
      <p:sp>
        <p:nvSpPr>
          <p:cNvPr id="402" name="TextBox 17"/>
          <p:cNvSpPr txBox="1"/>
          <p:nvPr/>
        </p:nvSpPr>
        <p:spPr>
          <a:xfrm>
            <a:off x="164591" y="2624836"/>
            <a:ext cx="5522977" cy="3359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sz="1100">
                <a:solidFill>
                  <a:srgbClr val="002060"/>
                </a:solidFill>
              </a:defRPr>
            </a:lvl1pPr>
          </a:lstStyle>
          <a:p>
            <a:pPr/>
            <a:r>
              <a:t>  5.  HDFC Bank (3.6% hit): confidence shrinkage neutralises the signal, but root cause of model failure is unresolved</a:t>
            </a:r>
          </a:p>
        </p:txBody>
      </p:sp>
      <p:sp>
        <p:nvSpPr>
          <p:cNvPr id="403" name="TextBox 18"/>
          <p:cNvSpPr txBox="1"/>
          <p:nvPr/>
        </p:nvSpPr>
        <p:spPr>
          <a:xfrm>
            <a:off x="5998464" y="2707386"/>
            <a:ext cx="5980177" cy="170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sz="1100">
                <a:solidFill>
                  <a:srgbClr val="002060"/>
                </a:solidFill>
              </a:defRPr>
            </a:lvl1pPr>
          </a:lstStyle>
          <a:p>
            <a:pPr/>
            <a:r>
              <a:t>  5.  Quarterly model refresh: retrain on rolling 5-year window each quarter</a:t>
            </a:r>
          </a:p>
        </p:txBody>
      </p:sp>
      <p:sp>
        <p:nvSpPr>
          <p:cNvPr id="404" name="Rectangle 19"/>
          <p:cNvSpPr/>
          <p:nvPr/>
        </p:nvSpPr>
        <p:spPr>
          <a:xfrm>
            <a:off x="77724" y="3599425"/>
            <a:ext cx="11795760" cy="246889"/>
          </a:xfrm>
          <a:prstGeom prst="rect">
            <a:avLst/>
          </a:prstGeom>
          <a:solidFill>
            <a:srgbClr val="1F497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05" name="TextBox 20"/>
          <p:cNvSpPr txBox="1"/>
          <p:nvPr/>
        </p:nvSpPr>
        <p:spPr>
          <a:xfrm>
            <a:off x="160020" y="3600858"/>
            <a:ext cx="11631168" cy="2117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Module Outputs</a:t>
            </a:r>
          </a:p>
        </p:txBody>
      </p:sp>
      <p:sp>
        <p:nvSpPr>
          <p:cNvPr id="406" name="TextBox 21"/>
          <p:cNvSpPr txBox="1"/>
          <p:nvPr/>
        </p:nvSpPr>
        <p:spPr>
          <a:xfrm>
            <a:off x="105156" y="3902611"/>
            <a:ext cx="11740896" cy="383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/>
          <a:p>
            <a:pPr>
              <a:defRPr sz="1200">
                <a:solidFill>
                  <a:srgbClr val="002060"/>
                </a:solidFill>
              </a:defRPr>
            </a:pPr>
            <a:r>
              <a:t>  cv_rolling_window_results.xlsx  — per-fold CV metrics for all 6 stocks × 2 horizons</a:t>
            </a:r>
          </a:p>
          <a:p>
            <a:pPr>
              <a:defRPr sz="1200">
                <a:solidFill>
                  <a:srgbClr val="002060"/>
                </a:solidFill>
              </a:defRPr>
            </a:pPr>
            <a:r>
              <a:t>  backtest_portfolio.csv           — monthly portfolio returns vs cash for 24 months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TextBox 4"/>
          <p:cNvSpPr txBox="1"/>
          <p:nvPr/>
        </p:nvSpPr>
        <p:spPr>
          <a:xfrm>
            <a:off x="167018" y="2543501"/>
            <a:ext cx="11842413" cy="5480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3200">
                <a:solidFill>
                  <a:srgbClr val="2F559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	</a:t>
            </a:r>
            <a:r>
              <a:rPr b="1"/>
              <a:t> Module 4: Derivatives Module (RS/RG)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TextBox 4"/>
          <p:cNvSpPr txBox="1"/>
          <p:nvPr/>
        </p:nvSpPr>
        <p:spPr>
          <a:xfrm>
            <a:off x="167018" y="2543501"/>
            <a:ext cx="11842413" cy="5480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3200">
                <a:solidFill>
                  <a:srgbClr val="2F559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Integration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TextBox 7"/>
          <p:cNvSpPr txBox="1"/>
          <p:nvPr/>
        </p:nvSpPr>
        <p:spPr>
          <a:xfrm>
            <a:off x="176344" y="167945"/>
            <a:ext cx="6738572" cy="497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2F5597"/>
                </a:solidFill>
              </a:defRPr>
            </a:lvl1pPr>
          </a:lstStyle>
          <a:p>
            <a:pPr/>
            <a:r>
              <a:t>Integrated Executive Dashboard</a:t>
            </a:r>
          </a:p>
        </p:txBody>
      </p:sp>
      <p:sp>
        <p:nvSpPr>
          <p:cNvPr id="413" name="Straight Connector 1"/>
          <p:cNvSpPr/>
          <p:nvPr/>
        </p:nvSpPr>
        <p:spPr>
          <a:xfrm>
            <a:off x="9327" y="886407"/>
            <a:ext cx="12204002" cy="1"/>
          </a:xfrm>
          <a:prstGeom prst="line">
            <a:avLst/>
          </a:prstGeom>
          <a:ln w="19050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TextBox 7"/>
          <p:cNvSpPr txBox="1"/>
          <p:nvPr/>
        </p:nvSpPr>
        <p:spPr>
          <a:xfrm>
            <a:off x="176345" y="167945"/>
            <a:ext cx="8063519" cy="497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2F5597"/>
                </a:solidFill>
              </a:defRPr>
            </a:lvl1pPr>
          </a:lstStyle>
          <a:p>
            <a:pPr/>
            <a:r>
              <a:t>Business Impact &amp; Strategic Recommendations</a:t>
            </a:r>
          </a:p>
        </p:txBody>
      </p:sp>
      <p:sp>
        <p:nvSpPr>
          <p:cNvPr id="416" name="Straight Connector 1"/>
          <p:cNvSpPr/>
          <p:nvPr/>
        </p:nvSpPr>
        <p:spPr>
          <a:xfrm>
            <a:off x="9327" y="886407"/>
            <a:ext cx="12204002" cy="1"/>
          </a:xfrm>
          <a:prstGeom prst="line">
            <a:avLst/>
          </a:prstGeom>
          <a:ln w="19050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TextBox 7"/>
          <p:cNvSpPr txBox="1"/>
          <p:nvPr/>
        </p:nvSpPr>
        <p:spPr>
          <a:xfrm>
            <a:off x="176345" y="167945"/>
            <a:ext cx="5115045" cy="497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2F5597"/>
                </a:solidFill>
              </a:defRPr>
            </a:lvl1pPr>
          </a:lstStyle>
          <a:p>
            <a:pPr/>
            <a:r>
              <a:t>Conclusion &amp; Future Scope</a:t>
            </a:r>
          </a:p>
        </p:txBody>
      </p:sp>
      <p:sp>
        <p:nvSpPr>
          <p:cNvPr id="419" name="Straight Connector 1"/>
          <p:cNvSpPr/>
          <p:nvPr/>
        </p:nvSpPr>
        <p:spPr>
          <a:xfrm>
            <a:off x="9327" y="886407"/>
            <a:ext cx="12204002" cy="1"/>
          </a:xfrm>
          <a:prstGeom prst="line">
            <a:avLst/>
          </a:prstGeom>
          <a:ln w="19050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TextBox 7"/>
          <p:cNvSpPr txBox="1"/>
          <p:nvPr/>
        </p:nvSpPr>
        <p:spPr>
          <a:xfrm>
            <a:off x="111031" y="167945"/>
            <a:ext cx="8884610" cy="497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2F5597"/>
                </a:solidFill>
              </a:defRPr>
            </a:lvl1pPr>
          </a:lstStyle>
          <a:p>
            <a:pPr/>
            <a:r>
              <a:t>References (Example Data)</a:t>
            </a:r>
          </a:p>
        </p:txBody>
      </p:sp>
      <p:sp>
        <p:nvSpPr>
          <p:cNvPr id="422" name="Straight Connector 1"/>
          <p:cNvSpPr/>
          <p:nvPr/>
        </p:nvSpPr>
        <p:spPr>
          <a:xfrm>
            <a:off x="9327" y="886407"/>
            <a:ext cx="12204002" cy="1"/>
          </a:xfrm>
          <a:prstGeom prst="line">
            <a:avLst/>
          </a:prstGeom>
          <a:ln w="19050">
            <a:solidFill>
              <a:srgbClr val="000000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423" name="TextBox 3"/>
          <p:cNvSpPr txBox="1"/>
          <p:nvPr/>
        </p:nvSpPr>
        <p:spPr>
          <a:xfrm>
            <a:off x="111029" y="1091677"/>
            <a:ext cx="11763904" cy="46567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1600">
                <a:solidFill>
                  <a:srgbClr val="2F559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Research Papers</a:t>
            </a:r>
          </a:p>
          <a:p>
            <a:pPr>
              <a:defRPr sz="1600">
                <a:solidFill>
                  <a:srgbClr val="2F559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Wav2Vec 2.0 – Baevski et al., Facebook AI (2020)</a:t>
            </a:r>
          </a:p>
          <a:p>
            <a:pPr>
              <a:defRPr sz="1600">
                <a:solidFill>
                  <a:srgbClr val="2F559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Whisper: Robust Speech Recognition via Large-Scale Weak Supervision – Radford et al., OpenAI (2022)</a:t>
            </a:r>
          </a:p>
          <a:p>
            <a:pPr>
              <a:defRPr sz="1600">
                <a:solidFill>
                  <a:srgbClr val="2F559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Conformer: Convolution-Augmented Transformer for Speech Recognition – Gulati et al., Google (2020)</a:t>
            </a:r>
          </a:p>
          <a:p>
            <a:pPr>
              <a:defRPr sz="1600">
                <a:solidFill>
                  <a:srgbClr val="2F559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Deep Speech 2 – Amodei et al., Baidu (2016)</a:t>
            </a:r>
          </a:p>
          <a:p>
            <a:pPr>
              <a:defRPr sz="1600">
                <a:solidFill>
                  <a:srgbClr val="2F559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SpecAugment – Park et al., Google Brain (2019)</a:t>
            </a:r>
          </a:p>
          <a:p>
            <a:pPr>
              <a:defRPr b="1" sz="1600">
                <a:solidFill>
                  <a:srgbClr val="2F5597"/>
                </a:solidFill>
                <a:latin typeface="Arial"/>
                <a:ea typeface="Arial"/>
                <a:cs typeface="Arial"/>
                <a:sym typeface="Arial"/>
              </a:defRPr>
            </a:pPr>
          </a:p>
          <a:p>
            <a:pPr>
              <a:defRPr b="1" sz="1600">
                <a:solidFill>
                  <a:srgbClr val="2F559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Videos</a:t>
            </a:r>
          </a:p>
          <a:p>
            <a:pPr>
              <a:defRPr sz="1600">
                <a:solidFill>
                  <a:srgbClr val="2F559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"Wav2Vec 2.0 Explained" – Yannic Kilcher (YouTube)</a:t>
            </a:r>
          </a:p>
          <a:p>
            <a:pPr>
              <a:defRPr sz="1600">
                <a:solidFill>
                  <a:srgbClr val="2F559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"Whisper ASR by OpenAI – Full Technical Overview" – AssemblyAI (YouTube)</a:t>
            </a:r>
          </a:p>
          <a:p>
            <a:pPr>
              <a:defRPr sz="1600">
                <a:solidFill>
                  <a:srgbClr val="2F559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"Conformer: Convolution + Transformer for Speech" – Andrew Ng / DeepLearning.ai</a:t>
            </a:r>
          </a:p>
          <a:p>
            <a:pPr>
              <a:defRPr sz="1600">
                <a:solidFill>
                  <a:srgbClr val="2F559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"Speech Recognition with CTC" – Stanford CS224S Guest Lecture</a:t>
            </a:r>
          </a:p>
          <a:p>
            <a:pPr>
              <a:defRPr b="1" sz="1600">
                <a:solidFill>
                  <a:srgbClr val="2F5597"/>
                </a:solidFill>
                <a:latin typeface="Arial"/>
                <a:ea typeface="Arial"/>
                <a:cs typeface="Arial"/>
                <a:sym typeface="Arial"/>
              </a:defRPr>
            </a:pPr>
          </a:p>
          <a:p>
            <a:pPr>
              <a:defRPr b="1" sz="1600">
                <a:solidFill>
                  <a:srgbClr val="2F559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Articles</a:t>
            </a:r>
          </a:p>
          <a:p>
            <a:pPr>
              <a:defRPr sz="1600">
                <a:solidFill>
                  <a:srgbClr val="2F559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AssemblyAI Blog – End-to-End ASR, Wav2vec2, Whisper, Conformer</a:t>
            </a:r>
          </a:p>
          <a:p>
            <a:pPr>
              <a:defRPr sz="1600">
                <a:solidFill>
                  <a:srgbClr val="2F559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Meta AI Blog – Wav2Vec 2.0: Self-Supervised Learning for Speech Recognition</a:t>
            </a:r>
          </a:p>
          <a:p>
            <a:pPr>
              <a:defRPr sz="1600">
                <a:solidFill>
                  <a:srgbClr val="2F559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NVIDIA NeMo Blog – FastConformer for Efficient ASR</a:t>
            </a:r>
          </a:p>
          <a:p>
            <a:pPr>
              <a:defRPr sz="1600">
                <a:solidFill>
                  <a:srgbClr val="2F559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OpenAI Blog – Whisper: Multilingual Speech Recognition</a:t>
            </a:r>
          </a:p>
          <a:p>
            <a:pPr>
              <a:defRPr sz="1600">
                <a:solidFill>
                  <a:srgbClr val="2F559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HuggingFace Blog – Fine-tuning Wav2Vec2 for Speech Recognition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TextBox 4"/>
          <p:cNvSpPr txBox="1"/>
          <p:nvPr/>
        </p:nvSpPr>
        <p:spPr>
          <a:xfrm>
            <a:off x="409612" y="2351782"/>
            <a:ext cx="10088259" cy="10179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b="1" sz="3200">
                <a:solidFill>
                  <a:srgbClr val="203864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Annexure</a:t>
            </a:r>
          </a:p>
          <a:p>
            <a:pPr algn="ctr">
              <a:defRPr b="1" sz="3200">
                <a:solidFill>
                  <a:srgbClr val="203864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 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